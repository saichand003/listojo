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/>
    <a:lvl1pPr marL="0" indent="0">
      <a:defRPr sz="20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20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BluePanel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F1C35"/>
          </a:solidFill>
          <a:ln>
            <a:noFill/>
          </a:ln>
        </p:spPr>
      </p:sp>
      <p:sp>
        <p:nvSpPr>
          <p:cNvPr id="4" name="Circle1"/>
          <p:cNvSpPr/>
          <p:nvPr/>
        </p:nvSpPr>
        <p:spPr>
          <a:xfrm>
            <a:off x="284000" y="620000"/>
            <a:ext cx="1500000" cy="1500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5" name="Circle2"/>
          <p:cNvSpPr/>
          <p:nvPr/>
        </p:nvSpPr>
        <p:spPr>
          <a:xfrm>
            <a:off x="1010000" y="1880000"/>
            <a:ext cx="1120000" cy="1120000"/>
          </a:xfrm>
          <a:prstGeom prst="ellipse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6" name="Circle3"/>
          <p:cNvSpPr/>
          <p:nvPr/>
        </p:nvSpPr>
        <p:spPr>
          <a:xfrm>
            <a:off x="760000" y="3480000"/>
            <a:ext cx="1360000" cy="1360000"/>
          </a:xfrm>
          <a:prstGeom prst="ellipse">
            <a:avLst/>
          </a:prstGeom>
          <a:solidFill>
            <a:srgbClr val="62C2FF"/>
          </a:solidFill>
          <a:ln>
            <a:noFill/>
          </a:ln>
        </p:spPr>
      </p:sp>
      <p:sp>
        <p:nvSpPr>
          <p:cNvPr id="7" name="SideTitle"/>
          <p:cNvSpPr txBox="1"/>
          <p:nvPr/>
        </p:nvSpPr>
        <p:spPr>
          <a:xfrm>
            <a:off x="480000" y="4850000"/>
            <a:ext cx="30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200" b="1">
                <a:solidFill>
                  <a:srgbClr val="FFFFFF"/>
                </a:solidFill>
              </a:rPr>
              <a:t>Business Analyst Review</a:t>
            </a:r>
            <a:endParaRPr lang="en-US" sz="2200"/>
          </a:p>
          <a:p>
            <a:pPr>
              <a:buNone/>
            </a:pPr>
            <a:r>
              <a:rPr lang="en-US" sz="1800">
                <a:solidFill>
                  <a:srgbClr val="DCEAFE"/>
                </a:solidFill>
              </a:rPr>
              <a:t>Listojo Marketplace</a:t>
            </a:r>
            <a:endParaRPr lang="en-US" sz="1800"/>
          </a:p>
        </p:txBody>
      </p:sp>
      <p:sp>
        <p:nvSpPr>
          <p:cNvPr id="8" name="MainTitle"/>
          <p:cNvSpPr txBox="1"/>
          <p:nvPr/>
        </p:nvSpPr>
        <p:spPr>
          <a:xfrm>
            <a:off x="4500000" y="1050000"/>
            <a:ext cx="68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3200" b="1">
                <a:solidFill>
                  <a:srgbClr val="0F1C35"/>
                </a:solidFill>
              </a:rPr>
              <a:t>Listojo</a:t>
            </a:r>
            <a:endParaRPr lang="en-US" sz="3200"/>
          </a:p>
          <a:p>
            <a:pPr>
              <a:buNone/>
            </a:pPr>
            <a:r>
              <a:rPr lang="en-US" sz="2600" b="1">
                <a:solidFill>
                  <a:srgbClr val="0F1C35"/>
                </a:solidFill>
              </a:rPr>
              <a:t>Business Analysis Deck</a:t>
            </a:r>
            <a:endParaRPr lang="en-US" sz="2600"/>
          </a:p>
        </p:txBody>
      </p:sp>
      <p:sp>
        <p:nvSpPr>
          <p:cNvPr id="9" name="Subtitle"/>
          <p:cNvSpPr txBox="1"/>
          <p:nvPr/>
        </p:nvSpPr>
        <p:spPr>
          <a:xfrm>
            <a:off x="4500000" y="2150000"/>
            <a:ext cx="64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>
                <a:solidFill>
                  <a:srgbClr val="475569"/>
                </a:solidFill>
              </a:rPr>
              <a:t>Whole-chat summary converted into a presentation with visuals, graphs, and strategic recommendations.</a:t>
            </a:r>
            <a:endParaRPr lang="en-US" sz="1700"/>
          </a:p>
        </p:txBody>
      </p:sp>
      <p:sp>
        <p:nvSpPr>
          <p:cNvPr id="10" name="Chip1"/>
          <p:cNvSpPr/>
          <p:nvPr/>
        </p:nvSpPr>
        <p:spPr>
          <a:xfrm>
            <a:off x="4500000" y="3600000"/>
            <a:ext cx="1900000" cy="52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Chip2"/>
          <p:cNvSpPr/>
          <p:nvPr/>
        </p:nvSpPr>
        <p:spPr>
          <a:xfrm>
            <a:off x="6600000" y="3600000"/>
            <a:ext cx="1900000" cy="52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2" name="Chip3"/>
          <p:cNvSpPr/>
          <p:nvPr/>
        </p:nvSpPr>
        <p:spPr>
          <a:xfrm>
            <a:off x="8700000" y="3600000"/>
            <a:ext cx="2100000" cy="52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13" name="Chip1Text"/>
          <p:cNvSpPr txBox="1"/>
          <p:nvPr/>
        </p:nvSpPr>
        <p:spPr>
          <a:xfrm>
            <a:off x="4680000" y="372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1E3A8A"/>
                </a:solidFill>
              </a:rPr>
              <a:t>Product Review</a:t>
            </a:r>
            <a:endParaRPr lang="en-US" sz="1500"/>
          </a:p>
        </p:txBody>
      </p:sp>
      <p:sp>
        <p:nvSpPr>
          <p:cNvPr id="14" name="Chip2Text"/>
          <p:cNvSpPr txBox="1"/>
          <p:nvPr/>
        </p:nvSpPr>
        <p:spPr>
          <a:xfrm>
            <a:off x="6780000" y="372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166534"/>
                </a:solidFill>
              </a:rPr>
              <a:t>Revenue Logic</a:t>
            </a:r>
            <a:endParaRPr lang="en-US" sz="1500"/>
          </a:p>
        </p:txBody>
      </p:sp>
      <p:sp>
        <p:nvSpPr>
          <p:cNvPr id="15" name="Chip3Text"/>
          <p:cNvSpPr txBox="1"/>
          <p:nvPr/>
        </p:nvSpPr>
        <p:spPr>
          <a:xfrm>
            <a:off x="8880000" y="372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92400E"/>
                </a:solidFill>
              </a:rPr>
              <a:t>GTM &amp; Risks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Executive Summary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High-level business reading of the product and the discussion</a:t>
            </a:r>
            <a:endParaRPr lang="en-US" sz="1600"/>
          </a:p>
        </p:txBody>
      </p:sp>
      <p:sp>
        <p:nvSpPr>
          <p:cNvPr id="20" name="Promising MVP"/>
          <p:cNvSpPr/>
          <p:nvPr/>
        </p:nvSpPr>
        <p:spPr>
          <a:xfrm>
            <a:off x="2000000" y="1850000"/>
            <a:ext cx="2100000" cy="175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1" name="Promising MVPT"/>
          <p:cNvSpPr txBox="1"/>
          <p:nvPr/>
        </p:nvSpPr>
        <p:spPr>
          <a:xfrm>
            <a:off x="2180000" y="201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800" b="1">
                <a:solidFill>
                  <a:srgbClr val="1E3A8A"/>
                </a:solidFill>
              </a:rPr>
              <a:t>Promising MVP</a:t>
            </a:r>
            <a:endParaRPr lang="en-US" sz="1800"/>
          </a:p>
        </p:txBody>
      </p:sp>
      <p:sp>
        <p:nvSpPr>
          <p:cNvPr id="22" name="Promising MVPB"/>
          <p:cNvSpPr txBox="1"/>
          <p:nvPr/>
        </p:nvSpPr>
        <p:spPr>
          <a:xfrm>
            <a:off x="2180000" y="2400000"/>
            <a:ext cx="1700000" cy="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>
                <a:solidFill>
                  <a:srgbClr val="334155"/>
                </a:solidFill>
              </a:rPr>
              <a:t>Real working marketplace, not just a front-end mockup.</a:t>
            </a:r>
            <a:endParaRPr lang="en-US" sz="1450"/>
          </a:p>
        </p:txBody>
      </p:sp>
      <p:sp>
        <p:nvSpPr>
          <p:cNvPr id="23" name="Best Wedge"/>
          <p:cNvSpPr/>
          <p:nvPr/>
        </p:nvSpPr>
        <p:spPr>
          <a:xfrm>
            <a:off x="4600000" y="1850000"/>
            <a:ext cx="2100000" cy="175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4" name="Best WedgeT"/>
          <p:cNvSpPr txBox="1"/>
          <p:nvPr/>
        </p:nvSpPr>
        <p:spPr>
          <a:xfrm>
            <a:off x="4780000" y="201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800" b="1">
                <a:solidFill>
                  <a:srgbClr val="166534"/>
                </a:solidFill>
              </a:rPr>
              <a:t>Best Wedge</a:t>
            </a:r>
            <a:endParaRPr lang="en-US" sz="1800"/>
          </a:p>
        </p:txBody>
      </p:sp>
      <p:sp>
        <p:nvSpPr>
          <p:cNvPr id="25" name="Best WedgeB"/>
          <p:cNvSpPr txBox="1"/>
          <p:nvPr/>
        </p:nvSpPr>
        <p:spPr>
          <a:xfrm>
            <a:off x="4780000" y="2400000"/>
            <a:ext cx="1700000" cy="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>
                <a:solidFill>
                  <a:srgbClr val="334155"/>
                </a:solidFill>
              </a:rPr>
              <a:t>DFW rentals for small self-managed landlords and renters.</a:t>
            </a:r>
            <a:endParaRPr lang="en-US" sz="1450"/>
          </a:p>
        </p:txBody>
      </p:sp>
      <p:sp>
        <p:nvSpPr>
          <p:cNvPr id="26" name="Current State"/>
          <p:cNvSpPr/>
          <p:nvPr/>
        </p:nvSpPr>
        <p:spPr>
          <a:xfrm>
            <a:off x="7200000" y="1850000"/>
            <a:ext cx="2100000" cy="175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7" name="Current StateT"/>
          <p:cNvSpPr txBox="1"/>
          <p:nvPr/>
        </p:nvSpPr>
        <p:spPr>
          <a:xfrm>
            <a:off x="7380000" y="201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800" b="1">
                <a:solidFill>
                  <a:srgbClr val="92400E"/>
                </a:solidFill>
              </a:rPr>
              <a:t>Current State</a:t>
            </a:r>
            <a:endParaRPr lang="en-US" sz="1800"/>
          </a:p>
        </p:txBody>
      </p:sp>
      <p:sp>
        <p:nvSpPr>
          <p:cNvPr id="28" name="Current StateB"/>
          <p:cNvSpPr txBox="1"/>
          <p:nvPr/>
        </p:nvSpPr>
        <p:spPr>
          <a:xfrm>
            <a:off x="7380000" y="2400000"/>
            <a:ext cx="1700000" cy="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>
                <a:solidFill>
                  <a:srgbClr val="334155"/>
                </a:solidFill>
              </a:rPr>
              <a:t>Pre-PMF with meaningful validation potential, but not scale-ready.</a:t>
            </a:r>
            <a:endParaRPr lang="en-US" sz="1450"/>
          </a:p>
        </p:txBody>
      </p:sp>
      <p:sp>
        <p:nvSpPr>
          <p:cNvPr id="40" name="Bullets"/>
          <p:cNvSpPr txBox="1"/>
          <p:nvPr/>
        </p:nvSpPr>
        <p:spPr>
          <a:xfrm>
            <a:off x="1200000" y="4100000"/>
            <a:ext cx="98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Core workflows already exist: listings, search, favorites, inquiries, chat, and admin visibility.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Biggest near-term challenge is liquidity and trust, not feature count.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Best next step is disciplined local validation before monetization or expansion.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Current Product Value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Who benefits today and why the product can create real utility</a:t>
            </a:r>
            <a:endParaRPr lang="en-US" sz="1600"/>
          </a:p>
        </p:txBody>
      </p:sp>
      <p:sp>
        <p:nvSpPr>
          <p:cNvPr id="20" name="Small Landlords"/>
          <p:cNvSpPr/>
          <p:nvPr/>
        </p:nvSpPr>
        <p:spPr>
          <a:xfrm>
            <a:off x="900000" y="1900000"/>
            <a:ext cx="3200000" cy="140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1" name="Small LandlordsT"/>
          <p:cNvSpPr txBox="1"/>
          <p:nvPr/>
        </p:nvSpPr>
        <p:spPr>
          <a:xfrm>
            <a:off x="1120000" y="208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1E3A8A"/>
                </a:solidFill>
              </a:rPr>
              <a:t>Small Landlords</a:t>
            </a:r>
            <a:endParaRPr lang="en-US" sz="1900"/>
          </a:p>
        </p:txBody>
      </p:sp>
      <p:sp>
        <p:nvSpPr>
          <p:cNvPr id="22" name="Small LandlordsB"/>
          <p:cNvSpPr txBox="1"/>
          <p:nvPr/>
        </p:nvSpPr>
        <p:spPr>
          <a:xfrm>
            <a:off x="1120000" y="2500000"/>
            <a:ext cx="2600000" cy="7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>
                <a:solidFill>
                  <a:srgbClr val="334155"/>
                </a:solidFill>
              </a:rPr>
              <a:t>Free listing channel with simpler posting and local relevance.</a:t>
            </a:r>
            <a:endParaRPr lang="en-US" sz="1500"/>
          </a:p>
        </p:txBody>
      </p:sp>
      <p:sp>
        <p:nvSpPr>
          <p:cNvPr id="23" name="Renters"/>
          <p:cNvSpPr/>
          <p:nvPr/>
        </p:nvSpPr>
        <p:spPr>
          <a:xfrm>
            <a:off x="4500000" y="1900000"/>
            <a:ext cx="3200000" cy="140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4" name="RentersT"/>
          <p:cNvSpPr txBox="1"/>
          <p:nvPr/>
        </p:nvSpPr>
        <p:spPr>
          <a:xfrm>
            <a:off x="4720000" y="208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166534"/>
                </a:solidFill>
              </a:rPr>
              <a:t>Renters</a:t>
            </a:r>
            <a:endParaRPr lang="en-US" sz="1900"/>
          </a:p>
        </p:txBody>
      </p:sp>
      <p:sp>
        <p:nvSpPr>
          <p:cNvPr id="25" name="RentersB"/>
          <p:cNvSpPr txBox="1"/>
          <p:nvPr/>
        </p:nvSpPr>
        <p:spPr>
          <a:xfrm>
            <a:off x="4720000" y="2500000"/>
            <a:ext cx="2600000" cy="7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>
                <a:solidFill>
                  <a:srgbClr val="334155"/>
                </a:solidFill>
              </a:rPr>
              <a:t>Guided discovery and a more structured search experience.</a:t>
            </a:r>
            <a:endParaRPr lang="en-US" sz="1500"/>
          </a:p>
        </p:txBody>
      </p:sp>
      <p:sp>
        <p:nvSpPr>
          <p:cNvPr id="26" name="Founder / Operator"/>
          <p:cNvSpPr/>
          <p:nvPr/>
        </p:nvSpPr>
        <p:spPr>
          <a:xfrm>
            <a:off x="8100000" y="1900000"/>
            <a:ext cx="3200000" cy="140000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</p:sp>
      <p:sp>
        <p:nvSpPr>
          <p:cNvPr id="27" name="Founder / OperatorT"/>
          <p:cNvSpPr txBox="1"/>
          <p:nvPr/>
        </p:nvSpPr>
        <p:spPr>
          <a:xfrm>
            <a:off x="8320000" y="208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9D174D"/>
                </a:solidFill>
              </a:rPr>
              <a:t>Founder / Operator</a:t>
            </a:r>
            <a:endParaRPr lang="en-US" sz="1900"/>
          </a:p>
        </p:txBody>
      </p:sp>
      <p:sp>
        <p:nvSpPr>
          <p:cNvPr id="28" name="Founder / OperatorB"/>
          <p:cNvSpPr txBox="1"/>
          <p:nvPr/>
        </p:nvSpPr>
        <p:spPr>
          <a:xfrm>
            <a:off x="8320000" y="2500000"/>
            <a:ext cx="2600000" cy="7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>
                <a:solidFill>
                  <a:srgbClr val="334155"/>
                </a:solidFill>
              </a:rPr>
              <a:t>Useful platform for market learning, operational testing, and supply seeding.</a:t>
            </a:r>
            <a:endParaRPr lang="en-US" sz="1500"/>
          </a:p>
        </p:txBody>
      </p:sp>
      <p:sp>
        <p:nvSpPr>
          <p:cNvPr id="40" name="Bottom"/>
          <p:cNvSpPr txBox="1"/>
          <p:nvPr/>
        </p:nvSpPr>
        <p:spPr>
          <a:xfrm>
            <a:off x="1100000" y="4100000"/>
            <a:ext cx="9800000" cy="1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The product creates the most value when positioned narrowly as a trusted local rental marketplace.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In a controlled pilot city, the implemented feature set is enough to test real demand and supply behavior.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Overall Product Rating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Score-based view of product quality and business readiness</a:t>
            </a:r>
            <a:endParaRPr lang="en-US" sz="1600"/>
          </a:p>
        </p:txBody>
      </p:sp>
      <p:sp>
        <p:nvSpPr>
          <p:cNvPr id="20" name="Product concept"/>
          <p:cNvSpPr txBox="1"/>
          <p:nvPr/>
        </p:nvSpPr>
        <p:spPr>
          <a:xfrm>
            <a:off x="1000000" y="1800000"/>
            <a:ext cx="26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0F172A"/>
                </a:solidFill>
              </a:rPr>
              <a:t>Product concept</a:t>
            </a:r>
            <a:endParaRPr lang="en-US" sz="1700"/>
          </a:p>
        </p:txBody>
      </p:sp>
      <p:sp>
        <p:nvSpPr>
          <p:cNvPr id="21" name="Product conceptTrack"/>
          <p:cNvSpPr/>
          <p:nvPr/>
        </p:nvSpPr>
        <p:spPr>
          <a:xfrm>
            <a:off x="3900000" y="1830000"/>
            <a:ext cx="5200000" cy="2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Product conceptFill"/>
          <p:cNvSpPr/>
          <p:nvPr/>
        </p:nvSpPr>
        <p:spPr>
          <a:xfrm>
            <a:off x="3900000" y="1830000"/>
            <a:ext cx="3900000" cy="2200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23" name="Product conceptScore"/>
          <p:cNvSpPr txBox="1"/>
          <p:nvPr/>
        </p:nvSpPr>
        <p:spPr>
          <a:xfrm>
            <a:off x="9400000" y="178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2A7EF2"/>
                </a:solidFill>
              </a:rPr>
              <a:t>7.5 / 10</a:t>
            </a:r>
            <a:endParaRPr lang="en-US" sz="1700"/>
          </a:p>
        </p:txBody>
      </p:sp>
      <p:sp>
        <p:nvSpPr>
          <p:cNvPr id="24" name="User value in local launch"/>
          <p:cNvSpPr txBox="1"/>
          <p:nvPr/>
        </p:nvSpPr>
        <p:spPr>
          <a:xfrm>
            <a:off x="1000000" y="2580000"/>
            <a:ext cx="26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0F172A"/>
                </a:solidFill>
              </a:rPr>
              <a:t>User value in local launch</a:t>
            </a:r>
            <a:endParaRPr lang="en-US" sz="1700"/>
          </a:p>
        </p:txBody>
      </p:sp>
      <p:sp>
        <p:nvSpPr>
          <p:cNvPr id="25" name="User value in local launchTrack"/>
          <p:cNvSpPr/>
          <p:nvPr/>
        </p:nvSpPr>
        <p:spPr>
          <a:xfrm>
            <a:off x="3900000" y="2610000"/>
            <a:ext cx="5200000" cy="2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User value in local launchFill"/>
          <p:cNvSpPr/>
          <p:nvPr/>
        </p:nvSpPr>
        <p:spPr>
          <a:xfrm>
            <a:off x="3900000" y="2610000"/>
            <a:ext cx="3120000" cy="220000"/>
          </a:xfrm>
          <a:prstGeom prst="rect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27" name="User value in local launchScore"/>
          <p:cNvSpPr txBox="1"/>
          <p:nvPr/>
        </p:nvSpPr>
        <p:spPr>
          <a:xfrm>
            <a:off x="9400000" y="256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3DB549"/>
                </a:solidFill>
              </a:rPr>
              <a:t>6.0 / 10</a:t>
            </a:r>
            <a:endParaRPr lang="en-US" sz="1700"/>
          </a:p>
        </p:txBody>
      </p:sp>
      <p:sp>
        <p:nvSpPr>
          <p:cNvPr id="28" name="Commercial readiness"/>
          <p:cNvSpPr txBox="1"/>
          <p:nvPr/>
        </p:nvSpPr>
        <p:spPr>
          <a:xfrm>
            <a:off x="1000000" y="3360000"/>
            <a:ext cx="26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0F172A"/>
                </a:solidFill>
              </a:rPr>
              <a:t>Commercial readiness</a:t>
            </a:r>
            <a:endParaRPr lang="en-US" sz="1700"/>
          </a:p>
        </p:txBody>
      </p:sp>
      <p:sp>
        <p:nvSpPr>
          <p:cNvPr id="29" name="Commercial readinessTrack"/>
          <p:cNvSpPr/>
          <p:nvPr/>
        </p:nvSpPr>
        <p:spPr>
          <a:xfrm>
            <a:off x="3900000" y="3390000"/>
            <a:ext cx="5200000" cy="2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Commercial readinessFill"/>
          <p:cNvSpPr/>
          <p:nvPr/>
        </p:nvSpPr>
        <p:spPr>
          <a:xfrm>
            <a:off x="3900000" y="3390000"/>
            <a:ext cx="2080000" cy="2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Commercial readinessScore"/>
          <p:cNvSpPr txBox="1"/>
          <p:nvPr/>
        </p:nvSpPr>
        <p:spPr>
          <a:xfrm>
            <a:off x="9400000" y="334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F59E0B"/>
                </a:solidFill>
              </a:rPr>
              <a:t>4.0 / 10</a:t>
            </a:r>
            <a:endParaRPr lang="en-US" sz="1700"/>
          </a:p>
        </p:txBody>
      </p:sp>
      <p:sp>
        <p:nvSpPr>
          <p:cNvPr id="32" name="Operational readiness for scale"/>
          <p:cNvSpPr txBox="1"/>
          <p:nvPr/>
        </p:nvSpPr>
        <p:spPr>
          <a:xfrm>
            <a:off x="1000000" y="4140000"/>
            <a:ext cx="26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0F172A"/>
                </a:solidFill>
              </a:rPr>
              <a:t>Operational readiness for scale</a:t>
            </a:r>
            <a:endParaRPr lang="en-US" sz="1700"/>
          </a:p>
        </p:txBody>
      </p:sp>
      <p:sp>
        <p:nvSpPr>
          <p:cNvPr id="33" name="Operational readiness for scaleTrack"/>
          <p:cNvSpPr/>
          <p:nvPr/>
        </p:nvSpPr>
        <p:spPr>
          <a:xfrm>
            <a:off x="3900000" y="4170000"/>
            <a:ext cx="5200000" cy="2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Operational readiness for scaleFill"/>
          <p:cNvSpPr/>
          <p:nvPr/>
        </p:nvSpPr>
        <p:spPr>
          <a:xfrm>
            <a:off x="3900000" y="4170000"/>
            <a:ext cx="1560000" cy="22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35" name="Operational readiness for scaleScore"/>
          <p:cNvSpPr txBox="1"/>
          <p:nvPr/>
        </p:nvSpPr>
        <p:spPr>
          <a:xfrm>
            <a:off x="9400000" y="412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E11D48"/>
                </a:solidFill>
              </a:rPr>
              <a:t>3.0 / 10</a:t>
            </a:r>
            <a:endParaRPr lang="en-US" sz="1700"/>
          </a:p>
        </p:txBody>
      </p:sp>
      <p:sp>
        <p:nvSpPr>
          <p:cNvPr id="50" name="Callout"/>
          <p:cNvSpPr txBox="1"/>
          <p:nvPr/>
        </p:nvSpPr>
        <p:spPr>
          <a:xfrm>
            <a:off x="1000000" y="520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>
                <a:solidFill>
                  <a:srgbClr val="475569"/>
                </a:solidFill>
              </a:rPr>
              <a:t>Interpretation: strong enough for a local validation launch, but too early for broad scale or hard monetization.</a:t>
            </a:r>
            <a:endParaRPr lang="en-US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What Is Good vs. What Is Weak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Balanced view of the product’s commercial strengths and limitations</a:t>
            </a:r>
            <a:endParaRPr lang="en-US" sz="1600"/>
          </a:p>
        </p:txBody>
      </p:sp>
      <p:sp>
        <p:nvSpPr>
          <p:cNvPr id="20" name="Good"/>
          <p:cNvSpPr/>
          <p:nvPr/>
        </p:nvSpPr>
        <p:spPr>
          <a:xfrm>
            <a:off x="900000" y="1800000"/>
            <a:ext cx="4700000" cy="36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</p:sp>
      <p:sp>
        <p:nvSpPr>
          <p:cNvPr id="21" name="Weak"/>
          <p:cNvSpPr/>
          <p:nvPr/>
        </p:nvSpPr>
        <p:spPr>
          <a:xfrm>
            <a:off x="6400000" y="1800000"/>
            <a:ext cx="4700000" cy="360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</p:sp>
      <p:sp>
        <p:nvSpPr>
          <p:cNvPr id="22" name="GoodT"/>
          <p:cNvSpPr txBox="1"/>
          <p:nvPr/>
        </p:nvSpPr>
        <p:spPr>
          <a:xfrm>
            <a:off x="1160000" y="198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200" b="1">
                <a:solidFill>
                  <a:srgbClr val="166534"/>
                </a:solidFill>
              </a:rPr>
              <a:t>Good</a:t>
            </a:r>
            <a:endParaRPr lang="en-US" sz="2200"/>
          </a:p>
        </p:txBody>
      </p:sp>
      <p:sp>
        <p:nvSpPr>
          <p:cNvPr id="23" name="WeakT"/>
          <p:cNvSpPr txBox="1"/>
          <p:nvPr/>
        </p:nvSpPr>
        <p:spPr>
          <a:xfrm>
            <a:off x="6660000" y="198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200" b="1">
                <a:solidFill>
                  <a:srgbClr val="991B1B"/>
                </a:solidFill>
              </a:rPr>
              <a:t>Weak</a:t>
            </a:r>
            <a:endParaRPr lang="en-US" sz="2200"/>
          </a:p>
        </p:txBody>
      </p:sp>
      <p:sp>
        <p:nvSpPr>
          <p:cNvPr id="24" name="GoodB"/>
          <p:cNvSpPr txBox="1"/>
          <p:nvPr/>
        </p:nvSpPr>
        <p:spPr>
          <a:xfrm>
            <a:off x="1160000" y="2380000"/>
            <a:ext cx="4000000" cy="2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Clear local wedge market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Real marketplace workflow already built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Guided search and matching create differentiation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Portal/dashboard supports early operations</a:t>
            </a:r>
            <a:endParaRPr lang="en-US" sz="1900"/>
          </a:p>
        </p:txBody>
      </p:sp>
      <p:sp>
        <p:nvSpPr>
          <p:cNvPr id="25" name="WeakB"/>
          <p:cNvSpPr txBox="1"/>
          <p:nvPr/>
        </p:nvSpPr>
        <p:spPr>
          <a:xfrm>
            <a:off x="6660000" y="2380000"/>
            <a:ext cx="4000000" cy="2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Low liquidity risk at launch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Trust signals not yet strong enough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Monetization is earlier in theory than in practice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Scaling and QA maturity remain weak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Top Business Risks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Risk heat view based on the business discussion</a:t>
            </a:r>
            <a:endParaRPr lang="en-US" sz="1600"/>
          </a:p>
        </p:txBody>
      </p:sp>
      <p:sp>
        <p:nvSpPr>
          <p:cNvPr id="20" name="Liquidity"/>
          <p:cNvSpPr txBox="1"/>
          <p:nvPr/>
        </p:nvSpPr>
        <p:spPr>
          <a:xfrm>
            <a:off x="900000" y="180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0F172A"/>
                </a:solidFill>
              </a:rPr>
              <a:t>Liquidity</a:t>
            </a:r>
            <a:endParaRPr lang="en-US" sz="1650"/>
          </a:p>
        </p:txBody>
      </p:sp>
      <p:sp>
        <p:nvSpPr>
          <p:cNvPr id="21" name="LiquidityTrack"/>
          <p:cNvSpPr/>
          <p:nvPr/>
        </p:nvSpPr>
        <p:spPr>
          <a:xfrm>
            <a:off x="3600000" y="1820000"/>
            <a:ext cx="5000000" cy="20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LiquidityFill"/>
          <p:cNvSpPr/>
          <p:nvPr/>
        </p:nvSpPr>
        <p:spPr>
          <a:xfrm>
            <a:off x="3600000" y="1820000"/>
            <a:ext cx="4400000" cy="20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3" name="LiquidityLevel"/>
          <p:cNvSpPr txBox="1"/>
          <p:nvPr/>
        </p:nvSpPr>
        <p:spPr>
          <a:xfrm>
            <a:off x="8950000" y="17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DC2626"/>
                </a:solidFill>
              </a:rPr>
              <a:t>Very High</a:t>
            </a:r>
            <a:endParaRPr lang="en-US" sz="1550"/>
          </a:p>
        </p:txBody>
      </p:sp>
      <p:sp>
        <p:nvSpPr>
          <p:cNvPr id="24" name="Trust / Moderation"/>
          <p:cNvSpPr txBox="1"/>
          <p:nvPr/>
        </p:nvSpPr>
        <p:spPr>
          <a:xfrm>
            <a:off x="900000" y="250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0F172A"/>
                </a:solidFill>
              </a:rPr>
              <a:t>Trust / Moderation</a:t>
            </a:r>
            <a:endParaRPr lang="en-US" sz="1650"/>
          </a:p>
        </p:txBody>
      </p:sp>
      <p:sp>
        <p:nvSpPr>
          <p:cNvPr id="25" name="Trust / ModerationTrack"/>
          <p:cNvSpPr/>
          <p:nvPr/>
        </p:nvSpPr>
        <p:spPr>
          <a:xfrm>
            <a:off x="3600000" y="2520000"/>
            <a:ext cx="5000000" cy="20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Trust / ModerationFill"/>
          <p:cNvSpPr/>
          <p:nvPr/>
        </p:nvSpPr>
        <p:spPr>
          <a:xfrm>
            <a:off x="3600000" y="2520000"/>
            <a:ext cx="3700000" cy="20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7" name="Trust / ModerationLevel"/>
          <p:cNvSpPr txBox="1"/>
          <p:nvPr/>
        </p:nvSpPr>
        <p:spPr>
          <a:xfrm>
            <a:off x="8950000" y="24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EA580C"/>
                </a:solidFill>
              </a:rPr>
              <a:t>High</a:t>
            </a:r>
            <a:endParaRPr lang="en-US" sz="1550"/>
          </a:p>
        </p:txBody>
      </p:sp>
      <p:sp>
        <p:nvSpPr>
          <p:cNvPr id="28" name="Positioning Dilution"/>
          <p:cNvSpPr txBox="1"/>
          <p:nvPr/>
        </p:nvSpPr>
        <p:spPr>
          <a:xfrm>
            <a:off x="900000" y="320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0F172A"/>
                </a:solidFill>
              </a:rPr>
              <a:t>Positioning Dilution</a:t>
            </a:r>
            <a:endParaRPr lang="en-US" sz="1650"/>
          </a:p>
        </p:txBody>
      </p:sp>
      <p:sp>
        <p:nvSpPr>
          <p:cNvPr id="29" name="Positioning DilutionTrack"/>
          <p:cNvSpPr/>
          <p:nvPr/>
        </p:nvSpPr>
        <p:spPr>
          <a:xfrm>
            <a:off x="3600000" y="3220000"/>
            <a:ext cx="5000000" cy="20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Positioning DilutionFill"/>
          <p:cNvSpPr/>
          <p:nvPr/>
        </p:nvSpPr>
        <p:spPr>
          <a:xfrm>
            <a:off x="3600000" y="3220000"/>
            <a:ext cx="2900000" cy="2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Positioning DilutionLevel"/>
          <p:cNvSpPr txBox="1"/>
          <p:nvPr/>
        </p:nvSpPr>
        <p:spPr>
          <a:xfrm>
            <a:off x="8950000" y="31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F59E0B"/>
                </a:solidFill>
              </a:rPr>
              <a:t>Medium</a:t>
            </a:r>
            <a:endParaRPr lang="en-US" sz="1550"/>
          </a:p>
        </p:txBody>
      </p:sp>
      <p:sp>
        <p:nvSpPr>
          <p:cNvPr id="32" name="Premature Monetization"/>
          <p:cNvSpPr txBox="1"/>
          <p:nvPr/>
        </p:nvSpPr>
        <p:spPr>
          <a:xfrm>
            <a:off x="900000" y="390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0F172A"/>
                </a:solidFill>
              </a:rPr>
              <a:t>Premature Monetization</a:t>
            </a:r>
            <a:endParaRPr lang="en-US" sz="1650"/>
          </a:p>
        </p:txBody>
      </p:sp>
      <p:sp>
        <p:nvSpPr>
          <p:cNvPr id="33" name="Premature MonetizationTrack"/>
          <p:cNvSpPr/>
          <p:nvPr/>
        </p:nvSpPr>
        <p:spPr>
          <a:xfrm>
            <a:off x="3600000" y="3920000"/>
            <a:ext cx="5000000" cy="20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Premature MonetizationFill"/>
          <p:cNvSpPr/>
          <p:nvPr/>
        </p:nvSpPr>
        <p:spPr>
          <a:xfrm>
            <a:off x="3600000" y="3920000"/>
            <a:ext cx="2700000" cy="2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5" name="Premature MonetizationLevel"/>
          <p:cNvSpPr txBox="1"/>
          <p:nvPr/>
        </p:nvSpPr>
        <p:spPr>
          <a:xfrm>
            <a:off x="8950000" y="38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F59E0B"/>
                </a:solidFill>
              </a:rPr>
              <a:t>Medium</a:t>
            </a:r>
            <a:endParaRPr lang="en-US" sz="1550"/>
          </a:p>
        </p:txBody>
      </p:sp>
      <p:sp>
        <p:nvSpPr>
          <p:cNvPr id="36" name="Founder-Heavy Ops"/>
          <p:cNvSpPr txBox="1"/>
          <p:nvPr/>
        </p:nvSpPr>
        <p:spPr>
          <a:xfrm>
            <a:off x="900000" y="460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0F172A"/>
                </a:solidFill>
              </a:rPr>
              <a:t>Founder-Heavy Ops</a:t>
            </a:r>
            <a:endParaRPr lang="en-US" sz="1650"/>
          </a:p>
        </p:txBody>
      </p:sp>
      <p:sp>
        <p:nvSpPr>
          <p:cNvPr id="37" name="Founder-Heavy OpsTrack"/>
          <p:cNvSpPr/>
          <p:nvPr/>
        </p:nvSpPr>
        <p:spPr>
          <a:xfrm>
            <a:off x="3600000" y="4620000"/>
            <a:ext cx="5000000" cy="20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8" name="Founder-Heavy OpsFill"/>
          <p:cNvSpPr/>
          <p:nvPr/>
        </p:nvSpPr>
        <p:spPr>
          <a:xfrm>
            <a:off x="3600000" y="4620000"/>
            <a:ext cx="2500000" cy="200000"/>
          </a:xfrm>
          <a:prstGeom prst="rect">
            <a:avLst/>
          </a:prstGeom>
          <a:solidFill>
            <a:srgbClr val="EAB308"/>
          </a:solidFill>
          <a:ln>
            <a:noFill/>
          </a:ln>
        </p:spPr>
      </p:sp>
      <p:sp>
        <p:nvSpPr>
          <p:cNvPr id="39" name="Founder-Heavy OpsLevel"/>
          <p:cNvSpPr txBox="1"/>
          <p:nvPr/>
        </p:nvSpPr>
        <p:spPr>
          <a:xfrm>
            <a:off x="8950000" y="45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EAB308"/>
                </a:solidFill>
              </a:rPr>
              <a:t>Medium</a:t>
            </a:r>
            <a:endParaRPr lang="en-US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SWOT Analysis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Structured view of strategic position</a:t>
            </a:r>
            <a:endParaRPr lang="en-US" sz="1600"/>
          </a:p>
        </p:txBody>
      </p:sp>
      <p:sp>
        <p:nvSpPr>
          <p:cNvPr id="20" name="Strengths"/>
          <p:cNvSpPr/>
          <p:nvPr/>
        </p:nvSpPr>
        <p:spPr>
          <a:xfrm>
            <a:off x="900000" y="1750000"/>
            <a:ext cx="4700000" cy="180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1" name="StrengthsT"/>
          <p:cNvSpPr txBox="1"/>
          <p:nvPr/>
        </p:nvSpPr>
        <p:spPr>
          <a:xfrm>
            <a:off x="1080000" y="1890000"/>
            <a:ext cx="20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1E3A8A"/>
                </a:solidFill>
              </a:rPr>
              <a:t>Strengths</a:t>
            </a:r>
            <a:endParaRPr lang="en-US" sz="1900"/>
          </a:p>
        </p:txBody>
      </p:sp>
      <p:sp>
        <p:nvSpPr>
          <p:cNvPr id="22" name="StrengthsB"/>
          <p:cNvSpPr txBox="1"/>
          <p:nvPr/>
        </p:nvSpPr>
        <p:spPr>
          <a:xfrm>
            <a:off x="1080000" y="2220000"/>
            <a:ext cx="41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Focused wedge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Real workflow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Guided search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Admin visibility</a:t>
            </a:r>
            <a:endParaRPr lang="en-US" sz="1450"/>
          </a:p>
        </p:txBody>
      </p:sp>
      <p:sp>
        <p:nvSpPr>
          <p:cNvPr id="23" name="Weaknesses"/>
          <p:cNvSpPr/>
          <p:nvPr/>
        </p:nvSpPr>
        <p:spPr>
          <a:xfrm>
            <a:off x="6400000" y="1750000"/>
            <a:ext cx="4700000" cy="18000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24" name="WeaknessesT"/>
          <p:cNvSpPr txBox="1"/>
          <p:nvPr/>
        </p:nvSpPr>
        <p:spPr>
          <a:xfrm>
            <a:off x="6580000" y="1890000"/>
            <a:ext cx="20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991B1B"/>
                </a:solidFill>
              </a:rPr>
              <a:t>Weaknesses</a:t>
            </a:r>
            <a:endParaRPr lang="en-US" sz="1900"/>
          </a:p>
        </p:txBody>
      </p:sp>
      <p:sp>
        <p:nvSpPr>
          <p:cNvPr id="25" name="WeaknessesB"/>
          <p:cNvSpPr txBox="1"/>
          <p:nvPr/>
        </p:nvSpPr>
        <p:spPr>
          <a:xfrm>
            <a:off x="6580000" y="2220000"/>
            <a:ext cx="41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Low scale readiness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Trust layer incomplete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Broad story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Monetization immature</a:t>
            </a:r>
            <a:endParaRPr lang="en-US" sz="1450"/>
          </a:p>
        </p:txBody>
      </p:sp>
      <p:sp>
        <p:nvSpPr>
          <p:cNvPr id="26" name="Opportunities"/>
          <p:cNvSpPr/>
          <p:nvPr/>
        </p:nvSpPr>
        <p:spPr>
          <a:xfrm>
            <a:off x="900000" y="4000000"/>
            <a:ext cx="4700000" cy="180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7" name="OpportunitiesT"/>
          <p:cNvSpPr txBox="1"/>
          <p:nvPr/>
        </p:nvSpPr>
        <p:spPr>
          <a:xfrm>
            <a:off x="1080000" y="4140000"/>
            <a:ext cx="20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166534"/>
                </a:solidFill>
              </a:rPr>
              <a:t>Opportunities</a:t>
            </a:r>
            <a:endParaRPr lang="en-US" sz="1900"/>
          </a:p>
        </p:txBody>
      </p:sp>
      <p:sp>
        <p:nvSpPr>
          <p:cNvPr id="28" name="OpportunitiesB"/>
          <p:cNvSpPr txBox="1"/>
          <p:nvPr/>
        </p:nvSpPr>
        <p:spPr>
          <a:xfrm>
            <a:off x="1080000" y="4470000"/>
            <a:ext cx="41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Own small-landlord niche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Verification layer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Paid boosts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City expansion playbook</a:t>
            </a:r>
            <a:endParaRPr lang="en-US" sz="1450"/>
          </a:p>
        </p:txBody>
      </p:sp>
      <p:sp>
        <p:nvSpPr>
          <p:cNvPr id="29" name="Threats"/>
          <p:cNvSpPr/>
          <p:nvPr/>
        </p:nvSpPr>
        <p:spPr>
          <a:xfrm>
            <a:off x="6400000" y="4000000"/>
            <a:ext cx="4700000" cy="180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0" name="ThreatsT"/>
          <p:cNvSpPr txBox="1"/>
          <p:nvPr/>
        </p:nvSpPr>
        <p:spPr>
          <a:xfrm>
            <a:off x="6580000" y="4140000"/>
            <a:ext cx="20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900" b="1">
                <a:solidFill>
                  <a:srgbClr val="92400E"/>
                </a:solidFill>
              </a:rPr>
              <a:t>Threats</a:t>
            </a:r>
            <a:endParaRPr lang="en-US" sz="1900"/>
          </a:p>
        </p:txBody>
      </p:sp>
      <p:sp>
        <p:nvSpPr>
          <p:cNvPr id="31" name="ThreatsB"/>
          <p:cNvSpPr txBox="1"/>
          <p:nvPr/>
        </p:nvSpPr>
        <p:spPr>
          <a:xfrm>
            <a:off x="6580000" y="4470000"/>
            <a:ext cx="41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Incumbent density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Cold-start failure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Early trust erosion</a:t>
            </a:r>
            <a:endParaRPr lang="en-US" sz="1450"/>
          </a:p>
          <a:p>
            <a:pPr>
              <a:buChar char="•"/>
            </a:pPr>
            <a:r>
              <a:rPr lang="en-US" sz="1450">
                <a:solidFill>
                  <a:srgbClr val="334155"/>
                </a:solidFill>
              </a:rPr>
              <a:t>Premature charging</a:t>
            </a:r>
            <a:endParaRPr lang="en-US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Product-Market Fit Scorecard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Quantified reading of PMF readiness</a:t>
            </a:r>
            <a:endParaRPr lang="en-US" sz="1600"/>
          </a:p>
        </p:txBody>
      </p:sp>
      <p:sp>
        <p:nvSpPr>
          <p:cNvPr id="20" name="Problem clarity"/>
          <p:cNvSpPr txBox="1"/>
          <p:nvPr/>
        </p:nvSpPr>
        <p:spPr>
          <a:xfrm>
            <a:off x="800000" y="170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Problem clarity</a:t>
            </a:r>
            <a:endParaRPr lang="en-US" sz="1450"/>
          </a:p>
        </p:txBody>
      </p:sp>
      <p:sp>
        <p:nvSpPr>
          <p:cNvPr id="21" name="Problem clarityTrack"/>
          <p:cNvSpPr/>
          <p:nvPr/>
        </p:nvSpPr>
        <p:spPr>
          <a:xfrm>
            <a:off x="3400000" y="172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Problem clarityFill"/>
          <p:cNvSpPr/>
          <p:nvPr/>
        </p:nvSpPr>
        <p:spPr>
          <a:xfrm>
            <a:off x="3400000" y="1720000"/>
            <a:ext cx="3120000" cy="160000"/>
          </a:xfrm>
          <a:prstGeom prst="rect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23" name="Problem clarityScore"/>
          <p:cNvSpPr txBox="1"/>
          <p:nvPr/>
        </p:nvSpPr>
        <p:spPr>
          <a:xfrm>
            <a:off x="7700000" y="169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3DB549"/>
                </a:solidFill>
              </a:rPr>
              <a:t>8.0</a:t>
            </a:r>
            <a:endParaRPr lang="en-US" sz="1450"/>
          </a:p>
        </p:txBody>
      </p:sp>
      <p:sp>
        <p:nvSpPr>
          <p:cNvPr id="24" name="Target user definition"/>
          <p:cNvSpPr txBox="1"/>
          <p:nvPr/>
        </p:nvSpPr>
        <p:spPr>
          <a:xfrm>
            <a:off x="800000" y="222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Target user definition</a:t>
            </a:r>
            <a:endParaRPr lang="en-US" sz="1450"/>
          </a:p>
        </p:txBody>
      </p:sp>
      <p:sp>
        <p:nvSpPr>
          <p:cNvPr id="25" name="Target user definitionTrack"/>
          <p:cNvSpPr/>
          <p:nvPr/>
        </p:nvSpPr>
        <p:spPr>
          <a:xfrm>
            <a:off x="3400000" y="224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Target user definitionFill"/>
          <p:cNvSpPr/>
          <p:nvPr/>
        </p:nvSpPr>
        <p:spPr>
          <a:xfrm>
            <a:off x="3400000" y="2240000"/>
            <a:ext cx="2730000" cy="160000"/>
          </a:xfrm>
          <a:prstGeom prst="rect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27" name="Target user definitionScore"/>
          <p:cNvSpPr txBox="1"/>
          <p:nvPr/>
        </p:nvSpPr>
        <p:spPr>
          <a:xfrm>
            <a:off x="7700000" y="221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3DB549"/>
                </a:solidFill>
              </a:rPr>
              <a:t>7.0</a:t>
            </a:r>
            <a:endParaRPr lang="en-US" sz="1450"/>
          </a:p>
        </p:txBody>
      </p:sp>
      <p:sp>
        <p:nvSpPr>
          <p:cNvPr id="28" name="Core usefulness"/>
          <p:cNvSpPr txBox="1"/>
          <p:nvPr/>
        </p:nvSpPr>
        <p:spPr>
          <a:xfrm>
            <a:off x="800000" y="274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Core usefulness</a:t>
            </a:r>
            <a:endParaRPr lang="en-US" sz="1450"/>
          </a:p>
        </p:txBody>
      </p:sp>
      <p:sp>
        <p:nvSpPr>
          <p:cNvPr id="29" name="Core usefulnessTrack"/>
          <p:cNvSpPr/>
          <p:nvPr/>
        </p:nvSpPr>
        <p:spPr>
          <a:xfrm>
            <a:off x="3400000" y="276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Core usefulnessFill"/>
          <p:cNvSpPr/>
          <p:nvPr/>
        </p:nvSpPr>
        <p:spPr>
          <a:xfrm>
            <a:off x="3400000" y="2760000"/>
            <a:ext cx="2535000" cy="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Core usefulnessScore"/>
          <p:cNvSpPr txBox="1"/>
          <p:nvPr/>
        </p:nvSpPr>
        <p:spPr>
          <a:xfrm>
            <a:off x="7700000" y="273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F59E0B"/>
                </a:solidFill>
              </a:rPr>
              <a:t>6.5</a:t>
            </a:r>
            <a:endParaRPr lang="en-US" sz="1450"/>
          </a:p>
        </p:txBody>
      </p:sp>
      <p:sp>
        <p:nvSpPr>
          <p:cNvPr id="32" name="Differentiation"/>
          <p:cNvSpPr txBox="1"/>
          <p:nvPr/>
        </p:nvSpPr>
        <p:spPr>
          <a:xfrm>
            <a:off x="800000" y="326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Differentiation</a:t>
            </a:r>
            <a:endParaRPr lang="en-US" sz="1450"/>
          </a:p>
        </p:txBody>
      </p:sp>
      <p:sp>
        <p:nvSpPr>
          <p:cNvPr id="33" name="DifferentiationTrack"/>
          <p:cNvSpPr/>
          <p:nvPr/>
        </p:nvSpPr>
        <p:spPr>
          <a:xfrm>
            <a:off x="3400000" y="328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DifferentiationFill"/>
          <p:cNvSpPr/>
          <p:nvPr/>
        </p:nvSpPr>
        <p:spPr>
          <a:xfrm>
            <a:off x="3400000" y="3280000"/>
            <a:ext cx="2730000" cy="160000"/>
          </a:xfrm>
          <a:prstGeom prst="rect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35" name="DifferentiationScore"/>
          <p:cNvSpPr txBox="1"/>
          <p:nvPr/>
        </p:nvSpPr>
        <p:spPr>
          <a:xfrm>
            <a:off x="7700000" y="325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3DB549"/>
                </a:solidFill>
              </a:rPr>
              <a:t>7.0</a:t>
            </a:r>
            <a:endParaRPr lang="en-US" sz="1450"/>
          </a:p>
        </p:txBody>
      </p:sp>
      <p:sp>
        <p:nvSpPr>
          <p:cNvPr id="36" name="Trust readiness"/>
          <p:cNvSpPr txBox="1"/>
          <p:nvPr/>
        </p:nvSpPr>
        <p:spPr>
          <a:xfrm>
            <a:off x="800000" y="378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Trust readiness</a:t>
            </a:r>
            <a:endParaRPr lang="en-US" sz="1450"/>
          </a:p>
        </p:txBody>
      </p:sp>
      <p:sp>
        <p:nvSpPr>
          <p:cNvPr id="37" name="Trust readinessTrack"/>
          <p:cNvSpPr/>
          <p:nvPr/>
        </p:nvSpPr>
        <p:spPr>
          <a:xfrm>
            <a:off x="3400000" y="380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8" name="Trust readinessFill"/>
          <p:cNvSpPr/>
          <p:nvPr/>
        </p:nvSpPr>
        <p:spPr>
          <a:xfrm>
            <a:off x="3400000" y="3800000"/>
            <a:ext cx="1755000" cy="1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39" name="Trust readinessScore"/>
          <p:cNvSpPr txBox="1"/>
          <p:nvPr/>
        </p:nvSpPr>
        <p:spPr>
          <a:xfrm>
            <a:off x="7700000" y="377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E11D48"/>
                </a:solidFill>
              </a:rPr>
              <a:t>4.5</a:t>
            </a:r>
            <a:endParaRPr lang="en-US" sz="1450"/>
          </a:p>
        </p:txBody>
      </p:sp>
      <p:sp>
        <p:nvSpPr>
          <p:cNvPr id="40" name="Liquidity readiness"/>
          <p:cNvSpPr txBox="1"/>
          <p:nvPr/>
        </p:nvSpPr>
        <p:spPr>
          <a:xfrm>
            <a:off x="800000" y="430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Liquidity readiness</a:t>
            </a:r>
            <a:endParaRPr lang="en-US" sz="1450"/>
          </a:p>
        </p:txBody>
      </p:sp>
      <p:sp>
        <p:nvSpPr>
          <p:cNvPr id="41" name="Liquidity readinessTrack"/>
          <p:cNvSpPr/>
          <p:nvPr/>
        </p:nvSpPr>
        <p:spPr>
          <a:xfrm>
            <a:off x="3400000" y="432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2" name="Liquidity readinessFill"/>
          <p:cNvSpPr/>
          <p:nvPr/>
        </p:nvSpPr>
        <p:spPr>
          <a:xfrm>
            <a:off x="3400000" y="4320000"/>
            <a:ext cx="1560000" cy="1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43" name="Liquidity readinessScore"/>
          <p:cNvSpPr txBox="1"/>
          <p:nvPr/>
        </p:nvSpPr>
        <p:spPr>
          <a:xfrm>
            <a:off x="7700000" y="429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E11D48"/>
                </a:solidFill>
              </a:rPr>
              <a:t>4.0</a:t>
            </a:r>
            <a:endParaRPr lang="en-US" sz="1450"/>
          </a:p>
        </p:txBody>
      </p:sp>
      <p:sp>
        <p:nvSpPr>
          <p:cNvPr id="44" name="Monetization readiness"/>
          <p:cNvSpPr txBox="1"/>
          <p:nvPr/>
        </p:nvSpPr>
        <p:spPr>
          <a:xfrm>
            <a:off x="800000" y="482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Monetization readiness</a:t>
            </a:r>
            <a:endParaRPr lang="en-US" sz="1450"/>
          </a:p>
        </p:txBody>
      </p:sp>
      <p:sp>
        <p:nvSpPr>
          <p:cNvPr id="45" name="Monetization readinessTrack"/>
          <p:cNvSpPr/>
          <p:nvPr/>
        </p:nvSpPr>
        <p:spPr>
          <a:xfrm>
            <a:off x="3400000" y="484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Monetization readinessFill"/>
          <p:cNvSpPr/>
          <p:nvPr/>
        </p:nvSpPr>
        <p:spPr>
          <a:xfrm>
            <a:off x="3400000" y="4840000"/>
            <a:ext cx="1560000" cy="1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47" name="Monetization readinessScore"/>
          <p:cNvSpPr txBox="1"/>
          <p:nvPr/>
        </p:nvSpPr>
        <p:spPr>
          <a:xfrm>
            <a:off x="7700000" y="481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E11D48"/>
                </a:solidFill>
              </a:rPr>
              <a:t>4.0</a:t>
            </a:r>
            <a:endParaRPr lang="en-US" sz="1450"/>
          </a:p>
        </p:txBody>
      </p:sp>
      <p:sp>
        <p:nvSpPr>
          <p:cNvPr id="48" name="Operational readiness"/>
          <p:cNvSpPr txBox="1"/>
          <p:nvPr/>
        </p:nvSpPr>
        <p:spPr>
          <a:xfrm>
            <a:off x="800000" y="534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0F172A"/>
                </a:solidFill>
              </a:rPr>
              <a:t>Operational readiness</a:t>
            </a:r>
            <a:endParaRPr lang="en-US" sz="1450"/>
          </a:p>
        </p:txBody>
      </p:sp>
      <p:sp>
        <p:nvSpPr>
          <p:cNvPr id="49" name="Operational readinessTrack"/>
          <p:cNvSpPr/>
          <p:nvPr/>
        </p:nvSpPr>
        <p:spPr>
          <a:xfrm>
            <a:off x="3400000" y="5360000"/>
            <a:ext cx="3900000" cy="1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Operational readinessFill"/>
          <p:cNvSpPr/>
          <p:nvPr/>
        </p:nvSpPr>
        <p:spPr>
          <a:xfrm>
            <a:off x="3400000" y="5360000"/>
            <a:ext cx="1560000" cy="1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51" name="Operational readinessScore"/>
          <p:cNvSpPr txBox="1"/>
          <p:nvPr/>
        </p:nvSpPr>
        <p:spPr>
          <a:xfrm>
            <a:off x="7700000" y="533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E11D48"/>
                </a:solidFill>
              </a:rPr>
              <a:t>4.0</a:t>
            </a:r>
            <a:endParaRPr lang="en-US" sz="1450"/>
          </a:p>
        </p:txBody>
      </p:sp>
      <p:sp>
        <p:nvSpPr>
          <p:cNvPr id="80" name="TotalBox"/>
          <p:cNvSpPr/>
          <p:nvPr/>
        </p:nvSpPr>
        <p:spPr>
          <a:xfrm>
            <a:off x="9300000" y="2200000"/>
            <a:ext cx="1800000" cy="18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</p:sp>
      <p:sp>
        <p:nvSpPr>
          <p:cNvPr id="81" name="TotalT"/>
          <p:cNvSpPr txBox="1"/>
          <p:nvPr/>
        </p:nvSpPr>
        <p:spPr>
          <a:xfrm>
            <a:off x="9580000" y="2420000"/>
            <a:ext cx="12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1E3A8A"/>
                </a:solidFill>
              </a:rPr>
              <a:t>Overall</a:t>
            </a:r>
            <a:endParaRPr lang="en-US" sz="1700"/>
          </a:p>
        </p:txBody>
      </p:sp>
      <p:sp>
        <p:nvSpPr>
          <p:cNvPr id="82" name="TotalS"/>
          <p:cNvSpPr txBox="1"/>
          <p:nvPr/>
        </p:nvSpPr>
        <p:spPr>
          <a:xfrm>
            <a:off x="9580000" y="2870000"/>
            <a:ext cx="125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200" b="1">
                <a:solidFill>
                  <a:srgbClr val="1E3A8A"/>
                </a:solidFill>
              </a:rPr>
              <a:t>5.4 / 10</a:t>
            </a:r>
            <a:endParaRPr lang="en-US" sz="2200"/>
          </a:p>
        </p:txBody>
      </p:sp>
      <p:sp>
        <p:nvSpPr>
          <p:cNvPr id="83" name="TotalB"/>
          <p:cNvSpPr txBox="1"/>
          <p:nvPr/>
        </p:nvSpPr>
        <p:spPr>
          <a:xfrm>
            <a:off x="9480000" y="3470000"/>
            <a:ext cx="145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>
                <a:solidFill>
                  <a:srgbClr val="475569"/>
                </a:solidFill>
              </a:rPr>
              <a:t>Pre-PMF but credible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Revenue Logic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Commercial levers ranked by practicality and timing</a:t>
            </a:r>
            <a:endParaRPr lang="en-US" sz="1600"/>
          </a:p>
        </p:txBody>
      </p:sp>
      <p:sp>
        <p:nvSpPr>
          <p:cNvPr id="20" name="Paid boostsBar"/>
          <p:cNvSpPr/>
          <p:nvPr/>
        </p:nvSpPr>
        <p:spPr>
          <a:xfrm>
            <a:off x="1300000" y="2720000"/>
            <a:ext cx="1200000" cy="19800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21" name="Paid boostsPct"/>
          <p:cNvSpPr txBox="1"/>
          <p:nvPr/>
        </p:nvSpPr>
        <p:spPr>
          <a:xfrm>
            <a:off x="1300000" y="246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2A7EF2"/>
                </a:solidFill>
              </a:rPr>
              <a:t>90</a:t>
            </a:r>
            <a:endParaRPr lang="en-US" sz="1450"/>
          </a:p>
        </p:txBody>
      </p:sp>
      <p:sp>
        <p:nvSpPr>
          <p:cNvPr id="22" name="Paid boostsLbl"/>
          <p:cNvSpPr txBox="1"/>
          <p:nvPr/>
        </p:nvSpPr>
        <p:spPr>
          <a:xfrm>
            <a:off x="1120000" y="490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00" b="1">
                <a:solidFill>
                  <a:srgbClr val="334155"/>
                </a:solidFill>
              </a:rPr>
              <a:t>Paid boosts</a:t>
            </a:r>
            <a:endParaRPr lang="en-US" sz="1300"/>
          </a:p>
        </p:txBody>
      </p:sp>
      <p:sp>
        <p:nvSpPr>
          <p:cNvPr id="23" name="VerificationBar"/>
          <p:cNvSpPr/>
          <p:nvPr/>
        </p:nvSpPr>
        <p:spPr>
          <a:xfrm>
            <a:off x="3250000" y="3072000"/>
            <a:ext cx="1200000" cy="1628000"/>
          </a:xfrm>
          <a:prstGeom prst="rect">
            <a:avLst/>
          </a:prstGeom>
          <a:solidFill>
            <a:srgbClr val="3DB549"/>
          </a:solidFill>
          <a:ln>
            <a:noFill/>
          </a:ln>
        </p:spPr>
      </p:sp>
      <p:sp>
        <p:nvSpPr>
          <p:cNvPr id="24" name="VerificationPct"/>
          <p:cNvSpPr txBox="1"/>
          <p:nvPr/>
        </p:nvSpPr>
        <p:spPr>
          <a:xfrm>
            <a:off x="3250000" y="2812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3DB549"/>
                </a:solidFill>
              </a:rPr>
              <a:t>74</a:t>
            </a:r>
            <a:endParaRPr lang="en-US" sz="1450"/>
          </a:p>
        </p:txBody>
      </p:sp>
      <p:sp>
        <p:nvSpPr>
          <p:cNvPr id="25" name="VerificationLbl"/>
          <p:cNvSpPr txBox="1"/>
          <p:nvPr/>
        </p:nvSpPr>
        <p:spPr>
          <a:xfrm>
            <a:off x="3070000" y="490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00" b="1">
                <a:solidFill>
                  <a:srgbClr val="334155"/>
                </a:solidFill>
              </a:rPr>
              <a:t>Verification</a:t>
            </a:r>
            <a:endParaRPr lang="en-US" sz="1300"/>
          </a:p>
        </p:txBody>
      </p:sp>
      <p:sp>
        <p:nvSpPr>
          <p:cNvPr id="26" name="Premium landlord toolsBar"/>
          <p:cNvSpPr/>
          <p:nvPr/>
        </p:nvSpPr>
        <p:spPr>
          <a:xfrm>
            <a:off x="5200000" y="3204000"/>
            <a:ext cx="1200000" cy="1496000"/>
          </a:xfrm>
          <a:prstGeom prst="rect">
            <a:avLst/>
          </a:prstGeom>
          <a:solidFill>
            <a:srgbClr val="62C2FF"/>
          </a:solidFill>
          <a:ln>
            <a:noFill/>
          </a:ln>
        </p:spPr>
      </p:sp>
      <p:sp>
        <p:nvSpPr>
          <p:cNvPr id="27" name="Premium landlord toolsPct"/>
          <p:cNvSpPr txBox="1"/>
          <p:nvPr/>
        </p:nvSpPr>
        <p:spPr>
          <a:xfrm>
            <a:off x="5200000" y="2944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62C2FF"/>
                </a:solidFill>
              </a:rPr>
              <a:t>68</a:t>
            </a:r>
            <a:endParaRPr lang="en-US" sz="1450"/>
          </a:p>
        </p:txBody>
      </p:sp>
      <p:sp>
        <p:nvSpPr>
          <p:cNvPr id="28" name="Premium landlord toolsLbl"/>
          <p:cNvSpPr txBox="1"/>
          <p:nvPr/>
        </p:nvSpPr>
        <p:spPr>
          <a:xfrm>
            <a:off x="5020000" y="490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00" b="1">
                <a:solidFill>
                  <a:srgbClr val="334155"/>
                </a:solidFill>
              </a:rPr>
              <a:t>Premium landlord tools</a:t>
            </a:r>
            <a:endParaRPr lang="en-US" sz="1300"/>
          </a:p>
        </p:txBody>
      </p:sp>
      <p:sp>
        <p:nvSpPr>
          <p:cNvPr id="29" name="Screening / servicesBar"/>
          <p:cNvSpPr/>
          <p:nvPr/>
        </p:nvSpPr>
        <p:spPr>
          <a:xfrm>
            <a:off x="7150000" y="3490000"/>
            <a:ext cx="1200000" cy="121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0" name="Screening / servicesPct"/>
          <p:cNvSpPr txBox="1"/>
          <p:nvPr/>
        </p:nvSpPr>
        <p:spPr>
          <a:xfrm>
            <a:off x="7150000" y="323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F59E0B"/>
                </a:solidFill>
              </a:rPr>
              <a:t>55</a:t>
            </a:r>
            <a:endParaRPr lang="en-US" sz="1450"/>
          </a:p>
        </p:txBody>
      </p:sp>
      <p:sp>
        <p:nvSpPr>
          <p:cNvPr id="31" name="Screening / servicesLbl"/>
          <p:cNvSpPr txBox="1"/>
          <p:nvPr/>
        </p:nvSpPr>
        <p:spPr>
          <a:xfrm>
            <a:off x="6970000" y="490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00" b="1">
                <a:solidFill>
                  <a:srgbClr val="334155"/>
                </a:solidFill>
              </a:rPr>
              <a:t>Screening / services</a:t>
            </a:r>
            <a:endParaRPr lang="en-US" sz="1300"/>
          </a:p>
        </p:txBody>
      </p:sp>
      <p:sp>
        <p:nvSpPr>
          <p:cNvPr id="32" name="Agent lead routingBar"/>
          <p:cNvSpPr/>
          <p:nvPr/>
        </p:nvSpPr>
        <p:spPr>
          <a:xfrm>
            <a:off x="9100000" y="3688000"/>
            <a:ext cx="1200000" cy="101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33" name="Agent lead routingPct"/>
          <p:cNvSpPr txBox="1"/>
          <p:nvPr/>
        </p:nvSpPr>
        <p:spPr>
          <a:xfrm>
            <a:off x="9100000" y="3428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50" b="1">
                <a:solidFill>
                  <a:srgbClr val="E11D48"/>
                </a:solidFill>
              </a:rPr>
              <a:t>46</a:t>
            </a:r>
            <a:endParaRPr lang="en-US" sz="1450"/>
          </a:p>
        </p:txBody>
      </p:sp>
      <p:sp>
        <p:nvSpPr>
          <p:cNvPr id="34" name="Agent lead routingLbl"/>
          <p:cNvSpPr txBox="1"/>
          <p:nvPr/>
        </p:nvSpPr>
        <p:spPr>
          <a:xfrm>
            <a:off x="8920000" y="490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00" b="1">
                <a:solidFill>
                  <a:srgbClr val="334155"/>
                </a:solidFill>
              </a:rPr>
              <a:t>Agent lead routing</a:t>
            </a:r>
            <a:endParaRPr lang="en-US" sz="1300"/>
          </a:p>
        </p:txBody>
      </p:sp>
      <p:cxnSp>
        <p:nvCxnSpPr>
          <p:cNvPr id="100" name="Line 100"/>
          <p:cNvCxnSpPr/>
          <p:nvPr/>
        </p:nvCxnSpPr>
        <p:spPr>
          <a:xfrm>
            <a:off x="1100000" y="4700000"/>
            <a:ext cx="9400000" cy="0"/>
          </a:xfrm>
          <a:prstGeom prst="line">
            <a:avLst/>
          </a:prstGeom>
          <a:ln w="19050">
            <a:solidFill>
              <a:srgbClr val="CBD5E1"/>
            </a:solidFill>
          </a:ln>
        </p:spPr>
      </p:cxnSp>
      <p:sp>
        <p:nvSpPr>
          <p:cNvPr id="101" name="Foot"/>
          <p:cNvSpPr txBox="1"/>
          <p:nvPr/>
        </p:nvSpPr>
        <p:spPr>
          <a:xfrm>
            <a:off x="1100000" y="5550000"/>
            <a:ext cx="980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>
                <a:solidFill>
                  <a:srgbClr val="475569"/>
                </a:solidFill>
              </a:rPr>
              <a:t>Interpretation: featured/boosted placement is the cleanest first revenue stream, but only after supply quality and landlord outcomes are proven.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Pricing Roadmap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Recommended commercial sequencing</a:t>
            </a:r>
            <a:endParaRPr lang="en-US" sz="1600"/>
          </a:p>
        </p:txBody>
      </p:sp>
      <p:sp>
        <p:nvSpPr>
          <p:cNvPr id="20" name="Free Core"/>
          <p:cNvSpPr/>
          <p:nvPr/>
        </p:nvSpPr>
        <p:spPr>
          <a:xfrm>
            <a:off x="900000" y="2200000"/>
            <a:ext cx="1900000" cy="220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1" name="Free CoreBubble"/>
          <p:cNvSpPr/>
          <p:nvPr/>
        </p:nvSpPr>
        <p:spPr>
          <a:xfrm>
            <a:off x="1600000" y="1900000"/>
            <a:ext cx="500000" cy="500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2" name="Free CoreN"/>
          <p:cNvSpPr txBox="1"/>
          <p:nvPr/>
        </p:nvSpPr>
        <p:spPr>
          <a:xfrm>
            <a:off x="1780000" y="2020000"/>
            <a:ext cx="160000" cy="1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</a:rPr>
              <a:t>1</a:t>
            </a:r>
            <a:endParaRPr lang="en-US" sz="1500"/>
          </a:p>
        </p:txBody>
      </p:sp>
      <p:sp>
        <p:nvSpPr>
          <p:cNvPr id="23" name="Free CoreT"/>
          <p:cNvSpPr txBox="1"/>
          <p:nvPr/>
        </p:nvSpPr>
        <p:spPr>
          <a:xfrm>
            <a:off x="1080000" y="282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1E3A8A"/>
                </a:solidFill>
              </a:rPr>
              <a:t>Free Core</a:t>
            </a:r>
            <a:endParaRPr lang="en-US" sz="1700"/>
          </a:p>
        </p:txBody>
      </p:sp>
      <p:sp>
        <p:nvSpPr>
          <p:cNvPr id="24" name="Free CoreB"/>
          <p:cNvSpPr txBox="1"/>
          <p:nvPr/>
        </p:nvSpPr>
        <p:spPr>
          <a:xfrm>
            <a:off x="1080000" y="3240000"/>
            <a:ext cx="1500000" cy="8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Free listing, inquiry, chat, and photos to build supply.</a:t>
            </a:r>
            <a:endParaRPr lang="en-US" sz="1350"/>
          </a:p>
        </p:txBody>
      </p:sp>
      <p:sp>
        <p:nvSpPr>
          <p:cNvPr id="25" name="Paid Boosts"/>
          <p:cNvSpPr/>
          <p:nvPr/>
        </p:nvSpPr>
        <p:spPr>
          <a:xfrm>
            <a:off x="3600000" y="2200000"/>
            <a:ext cx="1900000" cy="220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6" name="Paid BoostsBubble"/>
          <p:cNvSpPr/>
          <p:nvPr/>
        </p:nvSpPr>
        <p:spPr>
          <a:xfrm>
            <a:off x="4300000" y="1900000"/>
            <a:ext cx="500000" cy="5000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</p:sp>
      <p:sp>
        <p:nvSpPr>
          <p:cNvPr id="27" name="Paid BoostsN"/>
          <p:cNvSpPr txBox="1"/>
          <p:nvPr/>
        </p:nvSpPr>
        <p:spPr>
          <a:xfrm>
            <a:off x="4480000" y="2020000"/>
            <a:ext cx="160000" cy="1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</a:rPr>
              <a:t>2</a:t>
            </a:r>
            <a:endParaRPr lang="en-US" sz="1500"/>
          </a:p>
        </p:txBody>
      </p:sp>
      <p:sp>
        <p:nvSpPr>
          <p:cNvPr id="28" name="Paid BoostsT"/>
          <p:cNvSpPr txBox="1"/>
          <p:nvPr/>
        </p:nvSpPr>
        <p:spPr>
          <a:xfrm>
            <a:off x="3780000" y="282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166534"/>
                </a:solidFill>
              </a:rPr>
              <a:t>Paid Boosts</a:t>
            </a:r>
            <a:endParaRPr lang="en-US" sz="1700"/>
          </a:p>
        </p:txBody>
      </p:sp>
      <p:sp>
        <p:nvSpPr>
          <p:cNvPr id="29" name="Paid BoostsB"/>
          <p:cNvSpPr txBox="1"/>
          <p:nvPr/>
        </p:nvSpPr>
        <p:spPr>
          <a:xfrm>
            <a:off x="3780000" y="3240000"/>
            <a:ext cx="1500000" cy="8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Weekly visibility products once landlords are getting real leads.</a:t>
            </a:r>
            <a:endParaRPr lang="en-US" sz="1350"/>
          </a:p>
        </p:txBody>
      </p:sp>
      <p:sp>
        <p:nvSpPr>
          <p:cNvPr id="30" name="Premium Tools"/>
          <p:cNvSpPr/>
          <p:nvPr/>
        </p:nvSpPr>
        <p:spPr>
          <a:xfrm>
            <a:off x="6300000" y="2200000"/>
            <a:ext cx="1900000" cy="2200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</p:sp>
      <p:sp>
        <p:nvSpPr>
          <p:cNvPr id="31" name="Premium ToolsBubble"/>
          <p:cNvSpPr/>
          <p:nvPr/>
        </p:nvSpPr>
        <p:spPr>
          <a:xfrm>
            <a:off x="7000000" y="1900000"/>
            <a:ext cx="500000" cy="50000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</p:sp>
      <p:sp>
        <p:nvSpPr>
          <p:cNvPr id="32" name="Premium ToolsN"/>
          <p:cNvSpPr txBox="1"/>
          <p:nvPr/>
        </p:nvSpPr>
        <p:spPr>
          <a:xfrm>
            <a:off x="7180000" y="2020000"/>
            <a:ext cx="160000" cy="1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</a:rPr>
              <a:t>3</a:t>
            </a:r>
            <a:endParaRPr lang="en-US" sz="1500"/>
          </a:p>
        </p:txBody>
      </p:sp>
      <p:sp>
        <p:nvSpPr>
          <p:cNvPr id="33" name="Premium ToolsT"/>
          <p:cNvSpPr txBox="1"/>
          <p:nvPr/>
        </p:nvSpPr>
        <p:spPr>
          <a:xfrm>
            <a:off x="6480000" y="282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0C4A6E"/>
                </a:solidFill>
              </a:rPr>
              <a:t>Premium Tools</a:t>
            </a:r>
            <a:endParaRPr lang="en-US" sz="1700"/>
          </a:p>
        </p:txBody>
      </p:sp>
      <p:sp>
        <p:nvSpPr>
          <p:cNvPr id="34" name="Premium ToolsB"/>
          <p:cNvSpPr txBox="1"/>
          <p:nvPr/>
        </p:nvSpPr>
        <p:spPr>
          <a:xfrm>
            <a:off x="6480000" y="3240000"/>
            <a:ext cx="1500000" cy="8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Analytics, renewals, portfolio tools, and workflow upgrades.</a:t>
            </a:r>
            <a:endParaRPr lang="en-US" sz="1350"/>
          </a:p>
        </p:txBody>
      </p:sp>
      <p:sp>
        <p:nvSpPr>
          <p:cNvPr id="35" name="Services"/>
          <p:cNvSpPr/>
          <p:nvPr/>
        </p:nvSpPr>
        <p:spPr>
          <a:xfrm>
            <a:off x="9000000" y="2200000"/>
            <a:ext cx="1900000" cy="220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6" name="ServicesBubble"/>
          <p:cNvSpPr/>
          <p:nvPr/>
        </p:nvSpPr>
        <p:spPr>
          <a:xfrm>
            <a:off x="9700000" y="1900000"/>
            <a:ext cx="500000" cy="50000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7" name="ServicesN"/>
          <p:cNvSpPr txBox="1"/>
          <p:nvPr/>
        </p:nvSpPr>
        <p:spPr>
          <a:xfrm>
            <a:off x="9880000" y="2020000"/>
            <a:ext cx="160000" cy="1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</a:rPr>
              <a:t>4</a:t>
            </a:r>
            <a:endParaRPr lang="en-US" sz="1500"/>
          </a:p>
        </p:txBody>
      </p:sp>
      <p:sp>
        <p:nvSpPr>
          <p:cNvPr id="38" name="ServicesT"/>
          <p:cNvSpPr txBox="1"/>
          <p:nvPr/>
        </p:nvSpPr>
        <p:spPr>
          <a:xfrm>
            <a:off x="9180000" y="282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92400E"/>
                </a:solidFill>
              </a:rPr>
              <a:t>Services</a:t>
            </a:r>
            <a:endParaRPr lang="en-US" sz="1700"/>
          </a:p>
        </p:txBody>
      </p:sp>
      <p:sp>
        <p:nvSpPr>
          <p:cNvPr id="39" name="ServicesB"/>
          <p:cNvSpPr txBox="1"/>
          <p:nvPr/>
        </p:nvSpPr>
        <p:spPr>
          <a:xfrm>
            <a:off x="9180000" y="3240000"/>
            <a:ext cx="1500000" cy="8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Verification, screening, and partner revenue once trust grows.</a:t>
            </a:r>
            <a:endParaRPr lang="en-US" sz="1350"/>
          </a:p>
        </p:txBody>
      </p:sp>
      <p:cxnSp>
        <p:nvCxnSpPr>
          <p:cNvPr id="80" name="Line 80"/>
          <p:cNvCxnSpPr/>
          <p:nvPr/>
        </p:nvCxnSpPr>
        <p:spPr>
          <a:xfrm>
            <a:off x="2800000" y="3300000"/>
            <a:ext cx="80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5500000" y="3300000"/>
            <a:ext cx="80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8200000" y="3300000"/>
            <a:ext cx="80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Go-To-Market Recommendation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Best launch path based on the business discussion</a:t>
            </a:r>
            <a:endParaRPr lang="en-US" sz="1600"/>
          </a:p>
        </p:txBody>
      </p:sp>
      <p:sp>
        <p:nvSpPr>
          <p:cNvPr id="20" name="Center"/>
          <p:cNvSpPr/>
          <p:nvPr/>
        </p:nvSpPr>
        <p:spPr>
          <a:xfrm>
            <a:off x="4200000" y="2550000"/>
            <a:ext cx="3800000" cy="12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</p:sp>
      <p:sp>
        <p:nvSpPr>
          <p:cNvPr id="21" name="CenterT"/>
          <p:cNvSpPr txBox="1"/>
          <p:nvPr/>
        </p:nvSpPr>
        <p:spPr>
          <a:xfrm>
            <a:off x="4460000" y="2870000"/>
            <a:ext cx="32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200" b="1">
                <a:solidFill>
                  <a:srgbClr val="1E3A8A"/>
                </a:solidFill>
              </a:rPr>
              <a:t>DFW Rentals for Small Landlords</a:t>
            </a:r>
            <a:endParaRPr lang="en-US" sz="2200"/>
          </a:p>
        </p:txBody>
      </p:sp>
      <p:sp>
        <p:nvSpPr>
          <p:cNvPr id="30" name="Supply Seeding"/>
          <p:cNvSpPr/>
          <p:nvPr/>
        </p:nvSpPr>
        <p:spPr>
          <a:xfrm>
            <a:off x="1400000" y="1650000"/>
            <a:ext cx="2200000" cy="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31" name="Supply SeedingT"/>
          <p:cNvSpPr txBox="1"/>
          <p:nvPr/>
        </p:nvSpPr>
        <p:spPr>
          <a:xfrm>
            <a:off x="1540000" y="187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334155"/>
                </a:solidFill>
              </a:rPr>
              <a:t>Supply Seeding</a:t>
            </a:r>
            <a:endParaRPr lang="en-US" sz="1700"/>
          </a:p>
        </p:txBody>
      </p:sp>
      <p:sp>
        <p:nvSpPr>
          <p:cNvPr id="32" name="Local Channels"/>
          <p:cNvSpPr/>
          <p:nvPr/>
        </p:nvSpPr>
        <p:spPr>
          <a:xfrm>
            <a:off x="9000000" y="1650000"/>
            <a:ext cx="2200000" cy="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33" name="Local ChannelsT"/>
          <p:cNvSpPr txBox="1"/>
          <p:nvPr/>
        </p:nvSpPr>
        <p:spPr>
          <a:xfrm>
            <a:off x="9140000" y="187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334155"/>
                </a:solidFill>
              </a:rPr>
              <a:t>Local Channels</a:t>
            </a:r>
            <a:endParaRPr lang="en-US" sz="1700"/>
          </a:p>
        </p:txBody>
      </p:sp>
      <p:sp>
        <p:nvSpPr>
          <p:cNvPr id="34" name="Trust First"/>
          <p:cNvSpPr/>
          <p:nvPr/>
        </p:nvSpPr>
        <p:spPr>
          <a:xfrm>
            <a:off x="1400000" y="4300000"/>
            <a:ext cx="2200000" cy="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35" name="Trust FirstT"/>
          <p:cNvSpPr txBox="1"/>
          <p:nvPr/>
        </p:nvSpPr>
        <p:spPr>
          <a:xfrm>
            <a:off x="1540000" y="452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334155"/>
                </a:solidFill>
              </a:rPr>
              <a:t>Trust First</a:t>
            </a:r>
            <a:endParaRPr lang="en-US" sz="1700"/>
          </a:p>
        </p:txBody>
      </p:sp>
      <p:sp>
        <p:nvSpPr>
          <p:cNvPr id="36" name="Landlord Metrics"/>
          <p:cNvSpPr/>
          <p:nvPr/>
        </p:nvSpPr>
        <p:spPr>
          <a:xfrm>
            <a:off x="9000000" y="4300000"/>
            <a:ext cx="2200000" cy="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37" name="Landlord MetricsT"/>
          <p:cNvSpPr txBox="1"/>
          <p:nvPr/>
        </p:nvSpPr>
        <p:spPr>
          <a:xfrm>
            <a:off x="9140000" y="452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700" b="1">
                <a:solidFill>
                  <a:srgbClr val="334155"/>
                </a:solidFill>
              </a:rPr>
              <a:t>Landlord Metrics</a:t>
            </a:r>
            <a:endParaRPr lang="en-US" sz="1700"/>
          </a:p>
        </p:txBody>
      </p:sp>
      <p:cxnSp>
        <p:nvCxnSpPr>
          <p:cNvPr id="50" name="Line 50"/>
          <p:cNvCxnSpPr/>
          <p:nvPr/>
        </p:nvCxnSpPr>
        <p:spPr>
          <a:xfrm>
            <a:off x="3600000" y="2450000"/>
            <a:ext cx="600000" cy="45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8000000" y="2900000"/>
            <a:ext cx="1000000" cy="-45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3600000" y="4700000"/>
            <a:ext cx="600000" cy="-110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8000000" y="3600000"/>
            <a:ext cx="1000000" cy="110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Top 5 Immediate Recommendations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Highest-leverage actions to increase business value</a:t>
            </a:r>
            <a:endParaRPr lang="en-US" sz="1600"/>
          </a:p>
        </p:txBody>
      </p:sp>
      <p:sp>
        <p:nvSpPr>
          <p:cNvPr id="20" name="Narrow the story to DFW rentals first"/>
          <p:cNvSpPr/>
          <p:nvPr/>
        </p:nvSpPr>
        <p:spPr>
          <a:xfrm>
            <a:off x="1200000" y="1700000"/>
            <a:ext cx="9800000" cy="52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1" name="Num1"/>
          <p:cNvSpPr/>
          <p:nvPr/>
        </p:nvSpPr>
        <p:spPr>
          <a:xfrm>
            <a:off x="1400000" y="1780000"/>
            <a:ext cx="340000" cy="340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2" name="NumText1"/>
          <p:cNvSpPr txBox="1"/>
          <p:nvPr/>
        </p:nvSpPr>
        <p:spPr>
          <a:xfrm>
            <a:off x="1530000" y="1845000"/>
            <a:ext cx="120000" cy="1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 b="1">
                <a:solidFill>
                  <a:srgbClr val="FFFFFF"/>
                </a:solidFill>
              </a:rPr>
              <a:t>1</a:t>
            </a:r>
            <a:endParaRPr lang="en-US" sz="1350"/>
          </a:p>
        </p:txBody>
      </p:sp>
      <p:sp>
        <p:nvSpPr>
          <p:cNvPr id="23" name="Reco1"/>
          <p:cNvSpPr txBox="1"/>
          <p:nvPr/>
        </p:nvSpPr>
        <p:spPr>
          <a:xfrm>
            <a:off x="1900000" y="182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334155"/>
                </a:solidFill>
              </a:rPr>
              <a:t>Narrow the story to DFW rentals first</a:t>
            </a:r>
            <a:endParaRPr lang="en-US" sz="1550"/>
          </a:p>
        </p:txBody>
      </p:sp>
      <p:sp>
        <p:nvSpPr>
          <p:cNvPr id="24" name="Strengthen trust and moderation before adding more breadth"/>
          <p:cNvSpPr/>
          <p:nvPr/>
        </p:nvSpPr>
        <p:spPr>
          <a:xfrm>
            <a:off x="1200000" y="2460000"/>
            <a:ext cx="9800000" cy="52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5" name="Num2"/>
          <p:cNvSpPr/>
          <p:nvPr/>
        </p:nvSpPr>
        <p:spPr>
          <a:xfrm>
            <a:off x="1400000" y="2540000"/>
            <a:ext cx="340000" cy="3400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</p:sp>
      <p:sp>
        <p:nvSpPr>
          <p:cNvPr id="26" name="NumText2"/>
          <p:cNvSpPr txBox="1"/>
          <p:nvPr/>
        </p:nvSpPr>
        <p:spPr>
          <a:xfrm>
            <a:off x="1530000" y="2605000"/>
            <a:ext cx="120000" cy="1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 b="1">
                <a:solidFill>
                  <a:srgbClr val="FFFFFF"/>
                </a:solidFill>
              </a:rPr>
              <a:t>2</a:t>
            </a:r>
            <a:endParaRPr lang="en-US" sz="1350"/>
          </a:p>
        </p:txBody>
      </p:sp>
      <p:sp>
        <p:nvSpPr>
          <p:cNvPr id="27" name="Reco2"/>
          <p:cNvSpPr txBox="1"/>
          <p:nvPr/>
        </p:nvSpPr>
        <p:spPr>
          <a:xfrm>
            <a:off x="1900000" y="258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334155"/>
                </a:solidFill>
              </a:rPr>
              <a:t>Strengthen trust and moderation before adding more breadth</a:t>
            </a:r>
            <a:endParaRPr lang="en-US" sz="1550"/>
          </a:p>
        </p:txBody>
      </p:sp>
      <p:sp>
        <p:nvSpPr>
          <p:cNvPr id="28" name="Make guided search measurably improve outcomes"/>
          <p:cNvSpPr/>
          <p:nvPr/>
        </p:nvSpPr>
        <p:spPr>
          <a:xfrm>
            <a:off x="1200000" y="3220000"/>
            <a:ext cx="9800000" cy="520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</p:sp>
      <p:sp>
        <p:nvSpPr>
          <p:cNvPr id="29" name="Num3"/>
          <p:cNvSpPr/>
          <p:nvPr/>
        </p:nvSpPr>
        <p:spPr>
          <a:xfrm>
            <a:off x="1400000" y="3300000"/>
            <a:ext cx="340000" cy="34000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</p:sp>
      <p:sp>
        <p:nvSpPr>
          <p:cNvPr id="30" name="NumText3"/>
          <p:cNvSpPr txBox="1"/>
          <p:nvPr/>
        </p:nvSpPr>
        <p:spPr>
          <a:xfrm>
            <a:off x="1530000" y="3365000"/>
            <a:ext cx="120000" cy="1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 b="1">
                <a:solidFill>
                  <a:srgbClr val="FFFFFF"/>
                </a:solidFill>
              </a:rPr>
              <a:t>3</a:t>
            </a:r>
            <a:endParaRPr lang="en-US" sz="1350"/>
          </a:p>
        </p:txBody>
      </p:sp>
      <p:sp>
        <p:nvSpPr>
          <p:cNvPr id="31" name="Reco3"/>
          <p:cNvSpPr txBox="1"/>
          <p:nvPr/>
        </p:nvSpPr>
        <p:spPr>
          <a:xfrm>
            <a:off x="1900000" y="334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334155"/>
                </a:solidFill>
              </a:rPr>
              <a:t>Make guided search measurably improve outcomes</a:t>
            </a:r>
            <a:endParaRPr lang="en-US" sz="1550"/>
          </a:p>
        </p:txBody>
      </p:sp>
      <p:sp>
        <p:nvSpPr>
          <p:cNvPr id="32" name="Track landlord success as the primary KPI"/>
          <p:cNvSpPr/>
          <p:nvPr/>
        </p:nvSpPr>
        <p:spPr>
          <a:xfrm>
            <a:off x="1200000" y="3980000"/>
            <a:ext cx="9800000" cy="52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3" name="Num4"/>
          <p:cNvSpPr/>
          <p:nvPr/>
        </p:nvSpPr>
        <p:spPr>
          <a:xfrm>
            <a:off x="1400000" y="4060000"/>
            <a:ext cx="340000" cy="34000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4" name="NumText4"/>
          <p:cNvSpPr txBox="1"/>
          <p:nvPr/>
        </p:nvSpPr>
        <p:spPr>
          <a:xfrm>
            <a:off x="1530000" y="4125000"/>
            <a:ext cx="120000" cy="1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 b="1">
                <a:solidFill>
                  <a:srgbClr val="FFFFFF"/>
                </a:solidFill>
              </a:rPr>
              <a:t>4</a:t>
            </a:r>
            <a:endParaRPr lang="en-US" sz="1350"/>
          </a:p>
        </p:txBody>
      </p:sp>
      <p:sp>
        <p:nvSpPr>
          <p:cNvPr id="35" name="Reco4"/>
          <p:cNvSpPr txBox="1"/>
          <p:nvPr/>
        </p:nvSpPr>
        <p:spPr>
          <a:xfrm>
            <a:off x="1900000" y="410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334155"/>
                </a:solidFill>
              </a:rPr>
              <a:t>Track landlord success as the primary KPI</a:t>
            </a:r>
            <a:endParaRPr lang="en-US" sz="1550"/>
          </a:p>
        </p:txBody>
      </p:sp>
      <p:sp>
        <p:nvSpPr>
          <p:cNvPr id="36" name="Delay aggressive monetization until lead quality is proven"/>
          <p:cNvSpPr/>
          <p:nvPr/>
        </p:nvSpPr>
        <p:spPr>
          <a:xfrm>
            <a:off x="1200000" y="4740000"/>
            <a:ext cx="9800000" cy="52000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</p:sp>
      <p:sp>
        <p:nvSpPr>
          <p:cNvPr id="37" name="Num5"/>
          <p:cNvSpPr/>
          <p:nvPr/>
        </p:nvSpPr>
        <p:spPr>
          <a:xfrm>
            <a:off x="1400000" y="4820000"/>
            <a:ext cx="340000" cy="340000"/>
          </a:xfrm>
          <a:prstGeom prst="ellipse">
            <a:avLst/>
          </a:prstGeom>
          <a:solidFill>
            <a:srgbClr val="9D174D"/>
          </a:solidFill>
          <a:ln>
            <a:noFill/>
          </a:ln>
        </p:spPr>
      </p:sp>
      <p:sp>
        <p:nvSpPr>
          <p:cNvPr id="38" name="NumText5"/>
          <p:cNvSpPr txBox="1"/>
          <p:nvPr/>
        </p:nvSpPr>
        <p:spPr>
          <a:xfrm>
            <a:off x="1530000" y="4885000"/>
            <a:ext cx="120000" cy="1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 b="1">
                <a:solidFill>
                  <a:srgbClr val="FFFFFF"/>
                </a:solidFill>
              </a:rPr>
              <a:t>5</a:t>
            </a:r>
            <a:endParaRPr lang="en-US" sz="1350"/>
          </a:p>
        </p:txBody>
      </p:sp>
      <p:sp>
        <p:nvSpPr>
          <p:cNvPr id="39" name="Reco5"/>
          <p:cNvSpPr txBox="1"/>
          <p:nvPr/>
        </p:nvSpPr>
        <p:spPr>
          <a:xfrm>
            <a:off x="1900000" y="486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334155"/>
                </a:solidFill>
              </a:rPr>
              <a:t>Delay aggressive monetization until lead quality is proven</a:t>
            </a:r>
            <a:endParaRPr lang="en-US" sz="1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Final Assessment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Bottom-line conclusion from the full business discussion</a:t>
            </a:r>
            <a:endParaRPr lang="en-US" sz="1600"/>
          </a:p>
        </p:txBody>
      </p:sp>
      <p:sp>
        <p:nvSpPr>
          <p:cNvPr id="20" name="Main"/>
          <p:cNvSpPr/>
          <p:nvPr/>
        </p:nvSpPr>
        <p:spPr>
          <a:xfrm>
            <a:off x="1200000" y="1900000"/>
            <a:ext cx="9800000" cy="2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</p:sp>
      <p:sp>
        <p:nvSpPr>
          <p:cNvPr id="21" name="Summary"/>
          <p:cNvSpPr txBox="1"/>
          <p:nvPr/>
        </p:nvSpPr>
        <p:spPr>
          <a:xfrm>
            <a:off x="1600000" y="2250000"/>
            <a:ext cx="90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000" b="1">
                <a:solidFill>
                  <a:srgbClr val="1E3A8A"/>
                </a:solidFill>
              </a:rPr>
              <a:t>Listojo is promising, not broken.</a:t>
            </a:r>
            <a:endParaRPr lang="en-US" sz="20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It is good enough for a controlled local validation launch.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It is not yet mature enough for broad rollout or hard monetization.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If supply, trust, and repeat landlord value are proven in one city, the business can become meaningful.</a:t>
            </a:r>
            <a:endParaRPr lang="en-US" sz="1900"/>
          </a:p>
          <a:p>
            <a:pPr>
              <a:buChar char="•"/>
            </a:pPr>
            <a:r>
              <a:rPr lang="en-US" sz="1900">
                <a:solidFill>
                  <a:srgbClr val="1F2937"/>
                </a:solidFill>
              </a:rPr>
              <a:t>If those signals do not appear, more features alone will not solve the core business problem.</a:t>
            </a:r>
            <a:endParaRPr lang="en-US" sz="1900"/>
          </a:p>
        </p:txBody>
      </p:sp>
      <p:sp>
        <p:nvSpPr>
          <p:cNvPr id="22" name="TagA"/>
          <p:cNvSpPr/>
          <p:nvPr/>
        </p:nvSpPr>
        <p:spPr>
          <a:xfrm>
            <a:off x="2600000" y="4900000"/>
            <a:ext cx="1800000" cy="42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agB"/>
          <p:cNvSpPr/>
          <p:nvPr/>
        </p:nvSpPr>
        <p:spPr>
          <a:xfrm>
            <a:off x="4950000" y="4900000"/>
            <a:ext cx="1800000" cy="420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4" name="TagC"/>
          <p:cNvSpPr/>
          <p:nvPr/>
        </p:nvSpPr>
        <p:spPr>
          <a:xfrm>
            <a:off x="7300000" y="4900000"/>
            <a:ext cx="1800000" cy="42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5" name="TagAT"/>
          <p:cNvSpPr txBox="1"/>
          <p:nvPr/>
        </p:nvSpPr>
        <p:spPr>
          <a:xfrm>
            <a:off x="2870000" y="5010000"/>
            <a:ext cx="130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00" b="1">
                <a:solidFill>
                  <a:srgbClr val="1E3A8A"/>
                </a:solidFill>
              </a:rPr>
              <a:t>Validate</a:t>
            </a:r>
            <a:endParaRPr lang="en-US" sz="1400"/>
          </a:p>
        </p:txBody>
      </p:sp>
      <p:sp>
        <p:nvSpPr>
          <p:cNvPr id="26" name="TagBT"/>
          <p:cNvSpPr txBox="1"/>
          <p:nvPr/>
        </p:nvSpPr>
        <p:spPr>
          <a:xfrm>
            <a:off x="5230000" y="5010000"/>
            <a:ext cx="130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00" b="1">
                <a:solidFill>
                  <a:srgbClr val="166534"/>
                </a:solidFill>
              </a:rPr>
              <a:t>Build Trust</a:t>
            </a:r>
            <a:endParaRPr lang="en-US" sz="1400"/>
          </a:p>
        </p:txBody>
      </p:sp>
      <p:sp>
        <p:nvSpPr>
          <p:cNvPr id="27" name="TagCT"/>
          <p:cNvSpPr txBox="1"/>
          <p:nvPr/>
        </p:nvSpPr>
        <p:spPr>
          <a:xfrm>
            <a:off x="7600000" y="5010000"/>
            <a:ext cx="130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400" b="1">
                <a:solidFill>
                  <a:srgbClr val="92400E"/>
                </a:solidFill>
              </a:rPr>
              <a:t>Monetize Later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stojo Theme">
  <a:themeElements>
    <a:clrScheme name="Listojo Colors">
      <a:dk1>
        <a:srgbClr val="0F1C35"/>
      </a:dk1>
      <a:lt1>
        <a:srgbClr val="FFFFFF"/>
      </a:lt1>
      <a:dk2>
        <a:srgbClr val="1F2937"/>
      </a:dk2>
      <a:lt2>
        <a:srgbClr val="F8FAFC"/>
      </a:lt2>
      <a:accent1>
        <a:srgbClr val="2A7EF2"/>
      </a:accent1>
      <a:accent2>
        <a:srgbClr val="3DB549"/>
      </a:accent2>
      <a:accent3>
        <a:srgbClr val="F59E0B"/>
      </a:accent3>
      <a:accent4>
        <a:srgbClr val="62C2FF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Listojo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Listojo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Listojo Business Analysis Deck</dc:title>
  <dc:creator>OpenAI Codex</dc:creator>
  <cp:lastModifiedBy>OpenAI Codex</cp:lastModifiedBy>
  <dcterms:created xsi:type="dcterms:W3CDTF">2026-04-21T17:01:16Z</dcterms:created>
  <dcterms:modified xsi:type="dcterms:W3CDTF">2026-04-21T17:01:16Z</dcterms:modified>
</cp:coreProperties>
</file>