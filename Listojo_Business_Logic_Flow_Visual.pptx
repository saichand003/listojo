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</p:sldIdLst>
  <p:sldSz cx="12192000" cy="6858000"/>
  <p:notesSz cx="6858000" cy="9144000"/>
  <p:defaultTextStyle>
    <a:defPPr/>
    <a:lvl1pPr marL="0" indent="0">
      <a:defRPr sz="2000"/>
    </a:lvl1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>
      <a:lvl1pPr algn="l">
        <a:defRPr sz="2800" b="1"/>
      </a:lvl1pPr>
    </p:titleStyle>
    <p:bodyStyle>
      <a:lvl1pPr marL="0" indent="0">
        <a:defRPr sz="2000"/>
      </a:lvl1pPr>
    </p:bodyStyle>
    <p:otherStyle>
      <a:defPPr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2A7EF2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0960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2800" b="1">
                <a:solidFill>
                  <a:srgbClr val="0F1C35"/>
                </a:solidFill>
              </a:rPr>
              <a:t>Listojo Business Logic Flow</a:t>
            </a:r>
            <a:endParaRPr lang="en-US" sz="2800"/>
          </a:p>
        </p:txBody>
      </p:sp>
      <p:sp>
        <p:nvSpPr>
          <p:cNvPr id="4" name="Subtitle"/>
          <p:cNvSpPr txBox="1"/>
          <p:nvPr/>
        </p:nvSpPr>
        <p:spPr>
          <a:xfrm>
            <a:off x="609600" y="10287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600">
                <a:solidFill>
                  <a:srgbClr val="475569"/>
                </a:solidFill>
              </a:rPr>
              <a:t>Simple view: how a visitor becomes a lead, gets help if needed, and creates business value</a:t>
            </a:r>
            <a:endParaRPr lang="en-US" sz="1600"/>
          </a:p>
        </p:txBody>
      </p:sp>
      <p:sp>
        <p:nvSpPr>
          <p:cNvPr id="20" name="Banner"/>
          <p:cNvSpPr/>
          <p:nvPr/>
        </p:nvSpPr>
        <p:spPr>
          <a:xfrm>
            <a:off x="800000" y="1300000"/>
            <a:ext cx="10500000" cy="5500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93C5FD"/>
            </a:solidFill>
          </a:ln>
        </p:spPr>
      </p:sp>
      <p:sp>
        <p:nvSpPr>
          <p:cNvPr id="21" name="BannerText"/>
          <p:cNvSpPr txBox="1"/>
          <p:nvPr/>
        </p:nvSpPr>
        <p:spPr>
          <a:xfrm>
            <a:off x="1050000" y="1440000"/>
            <a:ext cx="100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550" b="1">
                <a:solidFill>
                  <a:srgbClr val="0F172A"/>
                </a:solidFill>
              </a:rPr>
              <a:t>Listojo lets people search on their own first, then brings in an agent only when the user wants help or shows stronger intent.</a:t>
            </a:r>
            <a:endParaRPr lang="en-US" sz="1550"/>
          </a:p>
        </p:txBody>
      </p:sp>
      <p:sp>
        <p:nvSpPr>
          <p:cNvPr id="30" name="Box1"/>
          <p:cNvSpPr/>
          <p:nvPr/>
        </p:nvSpPr>
        <p:spPr>
          <a:xfrm>
            <a:off x="700000" y="2200000"/>
            <a:ext cx="1900000" cy="1050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</p:sp>
      <p:sp>
        <p:nvSpPr>
          <p:cNvPr id="31" name="Box1Title"/>
          <p:cNvSpPr txBox="1"/>
          <p:nvPr/>
        </p:nvSpPr>
        <p:spPr>
          <a:xfrm>
            <a:off x="840000" y="2320000"/>
            <a:ext cx="1620000" cy="2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600" b="1">
                <a:solidFill>
                  <a:srgbClr val="1E3A8A"/>
                </a:solidFill>
              </a:rPr>
              <a:t>1. User Arrives</a:t>
            </a:r>
            <a:endParaRPr lang="en-US" sz="1600"/>
          </a:p>
        </p:txBody>
      </p:sp>
      <p:sp>
        <p:nvSpPr>
          <p:cNvPr id="32" name="Box1Body"/>
          <p:cNvSpPr txBox="1"/>
          <p:nvPr/>
        </p:nvSpPr>
        <p:spPr>
          <a:xfrm>
            <a:off x="840000" y="2610000"/>
            <a:ext cx="162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350">
                <a:solidFill>
                  <a:srgbClr val="334155"/>
                </a:solidFill>
              </a:rPr>
              <a:t>Visitor lands on Listojo to find a rental, home, or local option.</a:t>
            </a:r>
            <a:endParaRPr lang="en-US" sz="1350"/>
          </a:p>
        </p:txBody>
      </p:sp>
      <p:sp>
        <p:nvSpPr>
          <p:cNvPr id="33" name="Box2"/>
          <p:cNvSpPr/>
          <p:nvPr/>
        </p:nvSpPr>
        <p:spPr>
          <a:xfrm>
            <a:off x="2950000" y="2200000"/>
            <a:ext cx="1900000" cy="1050000"/>
          </a:xfrm>
          <a:prstGeom prst="roundRect">
            <a:avLst/>
          </a:prstGeom>
          <a:solidFill>
            <a:srgbClr val="DDF7F2"/>
          </a:solidFill>
          <a:ln w="12700">
            <a:solidFill>
              <a:srgbClr val="CBD5E1"/>
            </a:solidFill>
          </a:ln>
        </p:spPr>
      </p:sp>
      <p:sp>
        <p:nvSpPr>
          <p:cNvPr id="34" name="Box2Title"/>
          <p:cNvSpPr txBox="1"/>
          <p:nvPr/>
        </p:nvSpPr>
        <p:spPr>
          <a:xfrm>
            <a:off x="3090000" y="2320000"/>
            <a:ext cx="1620000" cy="2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600" b="1">
                <a:solidFill>
                  <a:srgbClr val="0F766E"/>
                </a:solidFill>
              </a:rPr>
              <a:t>2. Tell Us Needs</a:t>
            </a:r>
            <a:endParaRPr lang="en-US" sz="1600"/>
          </a:p>
        </p:txBody>
      </p:sp>
      <p:sp>
        <p:nvSpPr>
          <p:cNvPr id="35" name="Box2Body"/>
          <p:cNvSpPr txBox="1"/>
          <p:nvPr/>
        </p:nvSpPr>
        <p:spPr>
          <a:xfrm>
            <a:off x="3090000" y="2610000"/>
            <a:ext cx="162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350">
                <a:solidFill>
                  <a:srgbClr val="334155"/>
                </a:solidFill>
              </a:rPr>
              <a:t>Platform captures city, budget, bedrooms, timing, and preferences.</a:t>
            </a:r>
            <a:endParaRPr lang="en-US" sz="1350"/>
          </a:p>
        </p:txBody>
      </p:sp>
      <p:sp>
        <p:nvSpPr>
          <p:cNvPr id="36" name="Box3"/>
          <p:cNvSpPr/>
          <p:nvPr/>
        </p:nvSpPr>
        <p:spPr>
          <a:xfrm>
            <a:off x="5200000" y="2200000"/>
            <a:ext cx="1900000" cy="105000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CBD5E1"/>
            </a:solidFill>
          </a:ln>
        </p:spPr>
      </p:sp>
      <p:sp>
        <p:nvSpPr>
          <p:cNvPr id="37" name="Box3Title"/>
          <p:cNvSpPr txBox="1"/>
          <p:nvPr/>
        </p:nvSpPr>
        <p:spPr>
          <a:xfrm>
            <a:off x="5340000" y="2320000"/>
            <a:ext cx="1620000" cy="2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600" b="1">
                <a:solidFill>
                  <a:srgbClr val="92400E"/>
                </a:solidFill>
              </a:rPr>
              <a:t>3. See Curated Matches</a:t>
            </a:r>
            <a:endParaRPr lang="en-US" sz="1600"/>
          </a:p>
        </p:txBody>
      </p:sp>
      <p:sp>
        <p:nvSpPr>
          <p:cNvPr id="38" name="Box3Body"/>
          <p:cNvSpPr txBox="1"/>
          <p:nvPr/>
        </p:nvSpPr>
        <p:spPr>
          <a:xfrm>
            <a:off x="5340000" y="2610000"/>
            <a:ext cx="162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350">
                <a:solidFill>
                  <a:srgbClr val="334155"/>
                </a:solidFill>
              </a:rPr>
              <a:t>User sees relevant results and can continue on a self-serve journey.</a:t>
            </a:r>
            <a:endParaRPr lang="en-US" sz="1350"/>
          </a:p>
        </p:txBody>
      </p:sp>
      <p:sp>
        <p:nvSpPr>
          <p:cNvPr id="39" name="Box4"/>
          <p:cNvSpPr/>
          <p:nvPr/>
        </p:nvSpPr>
        <p:spPr>
          <a:xfrm>
            <a:off x="7600000" y="2200000"/>
            <a:ext cx="2100000" cy="1200000"/>
          </a:xfrm>
          <a:prstGeom prst="diamond">
            <a:avLst/>
          </a:prstGeom>
          <a:solidFill>
            <a:srgbClr val="FCE7F3"/>
          </a:solidFill>
          <a:ln w="12700">
            <a:solidFill>
              <a:srgbClr val="CBD5E1"/>
            </a:solidFill>
          </a:ln>
        </p:spPr>
      </p:sp>
      <p:sp>
        <p:nvSpPr>
          <p:cNvPr id="40" name="Box4Title"/>
          <p:cNvSpPr txBox="1"/>
          <p:nvPr/>
        </p:nvSpPr>
        <p:spPr>
          <a:xfrm>
            <a:off x="7740000" y="2320000"/>
            <a:ext cx="1820000" cy="2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600" b="1">
                <a:solidFill>
                  <a:srgbClr val="9D174D"/>
                </a:solidFill>
              </a:rPr>
              <a:t>4. Need Agent Help?</a:t>
            </a:r>
            <a:endParaRPr lang="en-US" sz="1600"/>
          </a:p>
        </p:txBody>
      </p:sp>
      <p:sp>
        <p:nvSpPr>
          <p:cNvPr id="41" name="Box4Body"/>
          <p:cNvSpPr txBox="1"/>
          <p:nvPr/>
        </p:nvSpPr>
        <p:spPr>
          <a:xfrm>
            <a:off x="7740000" y="2610000"/>
            <a:ext cx="182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350">
                <a:solidFill>
                  <a:srgbClr val="334155"/>
                </a:solidFill>
              </a:rPr>
              <a:t>This is the key business fork in the model.</a:t>
            </a:r>
            <a:endParaRPr lang="en-US" sz="1350"/>
          </a:p>
        </p:txBody>
      </p:sp>
      <p:cxnSp>
        <p:nvCxnSpPr>
          <p:cNvPr id="50" name="Line 50"/>
          <p:cNvCxnSpPr/>
          <p:nvPr/>
        </p:nvCxnSpPr>
        <p:spPr>
          <a:xfrm>
            <a:off x="2600000" y="2730000"/>
            <a:ext cx="350000" cy="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cxnSp>
        <p:nvCxnSpPr>
          <p:cNvPr id="51" name="Line 51"/>
          <p:cNvCxnSpPr/>
          <p:nvPr/>
        </p:nvCxnSpPr>
        <p:spPr>
          <a:xfrm>
            <a:off x="4850000" y="2730000"/>
            <a:ext cx="350000" cy="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cxnSp>
        <p:nvCxnSpPr>
          <p:cNvPr id="52" name="Line 52"/>
          <p:cNvCxnSpPr/>
          <p:nvPr/>
        </p:nvCxnSpPr>
        <p:spPr>
          <a:xfrm>
            <a:off x="7100000" y="2730000"/>
            <a:ext cx="500000" cy="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sp>
        <p:nvSpPr>
          <p:cNvPr id="60" name="SelfServe"/>
          <p:cNvSpPr/>
          <p:nvPr/>
        </p:nvSpPr>
        <p:spPr>
          <a:xfrm>
            <a:off x="6100000" y="4150000"/>
            <a:ext cx="2300000" cy="1050000"/>
          </a:xfrm>
          <a:prstGeom prst="roundRect">
            <a:avLst/>
          </a:prstGeom>
          <a:solidFill>
            <a:srgbClr val="E6F6E9"/>
          </a:solidFill>
          <a:ln w="12700">
            <a:solidFill>
              <a:srgbClr val="A7F3D0"/>
            </a:solidFill>
          </a:ln>
        </p:spPr>
      </p:sp>
      <p:sp>
        <p:nvSpPr>
          <p:cNvPr id="61" name="SelfServeTitle"/>
          <p:cNvSpPr txBox="1"/>
          <p:nvPr/>
        </p:nvSpPr>
        <p:spPr>
          <a:xfrm>
            <a:off x="6250000" y="4280000"/>
            <a:ext cx="1900000" cy="2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600" b="1">
                <a:solidFill>
                  <a:srgbClr val="166534"/>
                </a:solidFill>
              </a:rPr>
              <a:t>5A. Self-Serve Path</a:t>
            </a:r>
            <a:endParaRPr lang="en-US" sz="1600"/>
          </a:p>
        </p:txBody>
      </p:sp>
      <p:sp>
        <p:nvSpPr>
          <p:cNvPr id="62" name="SelfServeBody"/>
          <p:cNvSpPr txBox="1"/>
          <p:nvPr/>
        </p:nvSpPr>
        <p:spPr>
          <a:xfrm>
            <a:off x="6250000" y="4570000"/>
            <a:ext cx="1900000" cy="4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350">
                <a:solidFill>
                  <a:srgbClr val="334155"/>
                </a:solidFill>
              </a:rPr>
              <a:t>User keeps browsing independently. If intent rises later, the platform can still offer agent help.</a:t>
            </a:r>
            <a:endParaRPr lang="en-US" sz="1350"/>
          </a:p>
        </p:txBody>
      </p:sp>
      <p:sp>
        <p:nvSpPr>
          <p:cNvPr id="63" name="AgentPath"/>
          <p:cNvSpPr/>
          <p:nvPr/>
        </p:nvSpPr>
        <p:spPr>
          <a:xfrm>
            <a:off x="9200000" y="4150000"/>
            <a:ext cx="2300000" cy="1050000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FCA5A5"/>
            </a:solidFill>
          </a:ln>
        </p:spPr>
      </p:sp>
      <p:sp>
        <p:nvSpPr>
          <p:cNvPr id="64" name="AgentPathTitle"/>
          <p:cNvSpPr txBox="1"/>
          <p:nvPr/>
        </p:nvSpPr>
        <p:spPr>
          <a:xfrm>
            <a:off x="9350000" y="4280000"/>
            <a:ext cx="1900000" cy="2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600" b="1">
                <a:solidFill>
                  <a:srgbClr val="B91C1C"/>
                </a:solidFill>
              </a:rPr>
              <a:t>5B. Agent Path</a:t>
            </a:r>
            <a:endParaRPr lang="en-US" sz="1600"/>
          </a:p>
        </p:txBody>
      </p:sp>
      <p:sp>
        <p:nvSpPr>
          <p:cNvPr id="65" name="AgentPathBody"/>
          <p:cNvSpPr txBox="1"/>
          <p:nvPr/>
        </p:nvSpPr>
        <p:spPr>
          <a:xfrm>
            <a:off x="9350000" y="4570000"/>
            <a:ext cx="1900000" cy="4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350">
                <a:solidFill>
                  <a:srgbClr val="334155"/>
                </a:solidFill>
              </a:rPr>
              <a:t>Lead is assigned to an agent, who reviews preferences, curates options, and follows up.</a:t>
            </a:r>
            <a:endParaRPr lang="en-US" sz="1350"/>
          </a:p>
        </p:txBody>
      </p:sp>
      <p:cxnSp>
        <p:nvCxnSpPr>
          <p:cNvPr id="66" name="Line 66"/>
          <p:cNvCxnSpPr/>
          <p:nvPr/>
        </p:nvCxnSpPr>
        <p:spPr>
          <a:xfrm>
            <a:off x="8650000" y="3400000"/>
            <a:ext cx="-1400000" cy="75000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cxnSp>
        <p:nvCxnSpPr>
          <p:cNvPr id="67" name="Line 67"/>
          <p:cNvCxnSpPr/>
          <p:nvPr/>
        </p:nvCxnSpPr>
        <p:spPr>
          <a:xfrm>
            <a:off x="9250000" y="3400000"/>
            <a:ext cx="1100000" cy="75000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sp>
        <p:nvSpPr>
          <p:cNvPr id="68" name="NoLabel"/>
          <p:cNvSpPr txBox="1"/>
          <p:nvPr/>
        </p:nvSpPr>
        <p:spPr>
          <a:xfrm>
            <a:off x="6750000" y="3520000"/>
            <a:ext cx="450000" cy="1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200" b="1">
                <a:solidFill>
                  <a:srgbClr val="475569"/>
                </a:solidFill>
              </a:rPr>
              <a:t>No</a:t>
            </a:r>
            <a:endParaRPr lang="en-US" sz="1200"/>
          </a:p>
        </p:txBody>
      </p:sp>
      <p:sp>
        <p:nvSpPr>
          <p:cNvPr id="69" name="YesLabel"/>
          <p:cNvSpPr txBox="1"/>
          <p:nvPr/>
        </p:nvSpPr>
        <p:spPr>
          <a:xfrm>
            <a:off x="9700000" y="3520000"/>
            <a:ext cx="450000" cy="1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200" b="1">
                <a:solidFill>
                  <a:srgbClr val="475569"/>
                </a:solidFill>
              </a:rPr>
              <a:t>Yes</a:t>
            </a:r>
            <a:endParaRPr lang="en-US" sz="1200"/>
          </a:p>
        </p:txBody>
      </p:sp>
      <p:sp>
        <p:nvSpPr>
          <p:cNvPr id="70" name="Outcome"/>
          <p:cNvSpPr/>
          <p:nvPr/>
        </p:nvSpPr>
        <p:spPr>
          <a:xfrm>
            <a:off x="3600000" y="5600000"/>
            <a:ext cx="3000000" cy="550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</p:sp>
      <p:sp>
        <p:nvSpPr>
          <p:cNvPr id="71" name="OutcomeText"/>
          <p:cNvSpPr txBox="1"/>
          <p:nvPr/>
        </p:nvSpPr>
        <p:spPr>
          <a:xfrm>
            <a:off x="3860000" y="5760000"/>
            <a:ext cx="2500000" cy="2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650" b="1">
                <a:solidFill>
                  <a:srgbClr val="92400E"/>
                </a:solidFill>
              </a:rPr>
              <a:t>6. Better User Outcome</a:t>
            </a:r>
            <a:endParaRPr lang="en-US" sz="1650"/>
          </a:p>
          <a:p>
            <a:pPr>
              <a:buNone/>
            </a:pPr>
            <a:r>
              <a:rPr lang="en-US" sz="1300">
                <a:solidFill>
                  <a:srgbClr val="334155"/>
                </a:solidFill>
              </a:rPr>
              <a:t>Faster search, more relevant matches, and optional expert help.</a:t>
            </a:r>
            <a:endParaRPr lang="en-US" sz="1300"/>
          </a:p>
        </p:txBody>
      </p:sp>
      <p:sp>
        <p:nvSpPr>
          <p:cNvPr id="72" name="BusinessValue"/>
          <p:cNvSpPr/>
          <p:nvPr/>
        </p:nvSpPr>
        <p:spPr>
          <a:xfrm>
            <a:off x="7000000" y="5600000"/>
            <a:ext cx="4200000" cy="5500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4B5FD"/>
            </a:solidFill>
          </a:ln>
        </p:spPr>
      </p:sp>
      <p:sp>
        <p:nvSpPr>
          <p:cNvPr id="73" name="BusinessValueText"/>
          <p:cNvSpPr txBox="1"/>
          <p:nvPr/>
        </p:nvSpPr>
        <p:spPr>
          <a:xfrm>
            <a:off x="7260000" y="5760000"/>
            <a:ext cx="3600000" cy="2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650" b="1">
                <a:solidFill>
                  <a:srgbClr val="6D28D9"/>
                </a:solidFill>
              </a:rPr>
              <a:t>7. Business Value</a:t>
            </a:r>
            <a:endParaRPr lang="en-US" sz="1650"/>
          </a:p>
          <a:p>
            <a:pPr>
              <a:buNone/>
            </a:pPr>
            <a:r>
              <a:rPr lang="en-US" sz="1300">
                <a:solidFill>
                  <a:srgbClr val="334155"/>
                </a:solidFill>
              </a:rPr>
              <a:t>Lead intelligence, agent conversion, referral revenue, and funnel visibility.</a:t>
            </a:r>
            <a:endParaRPr lang="en-US" sz="1300"/>
          </a:p>
        </p:txBody>
      </p:sp>
      <p:cxnSp>
        <p:nvCxnSpPr>
          <p:cNvPr id="74" name="Line 74"/>
          <p:cNvCxnSpPr/>
          <p:nvPr/>
        </p:nvCxnSpPr>
        <p:spPr>
          <a:xfrm>
            <a:off x="7250000" y="5200000"/>
            <a:ext cx="-1300000" cy="40000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cxnSp>
        <p:nvCxnSpPr>
          <p:cNvPr id="75" name="Line 75"/>
          <p:cNvCxnSpPr/>
          <p:nvPr/>
        </p:nvCxnSpPr>
        <p:spPr>
          <a:xfrm>
            <a:off x="10350000" y="5200000"/>
            <a:ext cx="-1250000" cy="40000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sp>
        <p:nvSpPr>
          <p:cNvPr id="80" name="CalloutA"/>
          <p:cNvSpPr/>
          <p:nvPr/>
        </p:nvSpPr>
        <p:spPr>
          <a:xfrm>
            <a:off x="700000" y="5250000"/>
            <a:ext cx="2500000" cy="105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</p:sp>
      <p:sp>
        <p:nvSpPr>
          <p:cNvPr id="81" name="CalloutAText"/>
          <p:cNvSpPr txBox="1"/>
          <p:nvPr/>
        </p:nvSpPr>
        <p:spPr>
          <a:xfrm>
            <a:off x="900000" y="5420000"/>
            <a:ext cx="2100000" cy="6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550" b="1">
                <a:solidFill>
                  <a:srgbClr val="1E3A8A"/>
                </a:solidFill>
              </a:rPr>
              <a:t>Why this works</a:t>
            </a:r>
            <a:endParaRPr lang="en-US" sz="1550"/>
          </a:p>
          <a:p>
            <a:pPr>
              <a:buNone/>
            </a:pPr>
            <a:r>
              <a:rPr lang="en-US" sz="1280">
                <a:solidFill>
                  <a:srgbClr val="334155"/>
                </a:solidFill>
              </a:rPr>
              <a:t>People get value before talking to anyone, so the experience feels useful instead of pushy.</a:t>
            </a:r>
            <a:endParaRPr lang="en-US" sz="1280"/>
          </a:p>
        </p:txBody>
      </p:sp>
      <p:sp>
        <p:nvSpPr>
          <p:cNvPr id="82" name="CalloutB"/>
          <p:cNvSpPr/>
          <p:nvPr/>
        </p:nvSpPr>
        <p:spPr>
          <a:xfrm>
            <a:off x="700000" y="4100000"/>
            <a:ext cx="2500000" cy="950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</p:sp>
      <p:sp>
        <p:nvSpPr>
          <p:cNvPr id="83" name="CalloutBText"/>
          <p:cNvSpPr txBox="1"/>
          <p:nvPr/>
        </p:nvSpPr>
        <p:spPr>
          <a:xfrm>
            <a:off x="900000" y="4260000"/>
            <a:ext cx="2100000" cy="5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>
              <a:buNone/>
            </a:pPr>
            <a:r>
              <a:rPr lang="en-US" sz="1550" b="1">
                <a:solidFill>
                  <a:srgbClr val="166534"/>
                </a:solidFill>
              </a:rPr>
              <a:t>Revenue logic</a:t>
            </a:r>
            <a:endParaRPr lang="en-US" sz="1550"/>
          </a:p>
          <a:p>
            <a:pPr>
              <a:buNone/>
            </a:pPr>
            <a:r>
              <a:rPr lang="en-US" sz="1280">
                <a:solidFill>
                  <a:srgbClr val="334155"/>
                </a:solidFill>
              </a:rPr>
              <a:t>Money comes later, when qualified demand becomes an attributable agent-assisted outcome.</a:t>
            </a:r>
            <a:endParaRPr lang="en-US" sz="128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stojo Theme">
  <a:themeElements>
    <a:clrScheme name="Listojo Colors">
      <a:dk1>
        <a:srgbClr val="0F1C35"/>
      </a:dk1>
      <a:lt1>
        <a:srgbClr val="FFFFFF"/>
      </a:lt1>
      <a:dk2>
        <a:srgbClr val="1F2937"/>
      </a:dk2>
      <a:lt2>
        <a:srgbClr val="F8FAFC"/>
      </a:lt2>
      <a:accent1>
        <a:srgbClr val="2A7EF2"/>
      </a:accent1>
      <a:accent2>
        <a:srgbClr val="3DB549"/>
      </a:accent2>
      <a:accent3>
        <a:srgbClr val="F59E0B"/>
      </a:accent3>
      <a:accent4>
        <a:srgbClr val="62C2FF"/>
      </a:accent4>
      <a:accent5>
        <a:srgbClr val="E11D48"/>
      </a:accent5>
      <a:accent6>
        <a:srgbClr val="64748B"/>
      </a:accent6>
      <a:hlink>
        <a:srgbClr val="2563EB"/>
      </a:hlink>
      <a:folHlink>
        <a:srgbClr val="7C3AED"/>
      </a:folHlink>
    </a:clrScheme>
    <a:fontScheme name="Listojo Font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Listojo Forma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Company>OpenAI 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Listojo Business Analysis Deck</dc:title>
  <dc:creator>OpenAI Codex</dc:creator>
  <cp:lastModifiedBy>OpenAI Codex</cp:lastModifiedBy>
  <dcterms:created xsi:type="dcterms:W3CDTF">2026-04-21T23:26:38Z</dcterms:created>
  <dcterms:modified xsi:type="dcterms:W3CDTF">2026-04-21T23:26:38Z</dcterms:modified>
</cp:coreProperties>
</file>